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sldIdLst>
    <p:sldId id="256" r:id="rId2"/>
    <p:sldId id="257" r:id="rId3"/>
    <p:sldId id="258" r:id="rId4"/>
    <p:sldId id="259" r:id="rId5"/>
    <p:sldId id="260" r:id="rId6"/>
    <p:sldId id="262" r:id="rId7"/>
    <p:sldId id="261" r:id="rId8"/>
    <p:sldId id="263" r:id="rId9"/>
    <p:sldId id="264" r:id="rId10"/>
    <p:sldId id="265" r:id="rId11"/>
    <p:sldId id="267" r:id="rId12"/>
    <p:sldId id="268" r:id="rId13"/>
    <p:sldId id="269" r:id="rId14"/>
    <p:sldId id="270" r:id="rId15"/>
    <p:sldId id="271" r:id="rId16"/>
    <p:sldId id="275" r:id="rId17"/>
    <p:sldId id="276" r:id="rId18"/>
    <p:sldId id="277" r:id="rId19"/>
    <p:sldId id="278" r:id="rId20"/>
    <p:sldId id="279" r:id="rId21"/>
    <p:sldId id="280" r:id="rId22"/>
    <p:sldId id="272" r:id="rId23"/>
    <p:sldId id="274"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71" d="100"/>
          <a:sy n="71" d="100"/>
        </p:scale>
        <p:origin x="61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6C00F4EF-F299-46B6-ADB5-75E9B20BCCB5}" type="datetimeFigureOut">
              <a:rPr lang="en-IN" smtClean="0"/>
              <a:t>11-12-2023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C317D90-7CD1-48E3-99E2-47C596547C31}" type="slidenum">
              <a:rPr lang="en-IN" smtClean="0"/>
              <a:t>‹#›</a:t>
            </a:fld>
            <a:endParaRPr lang="en-IN"/>
          </a:p>
        </p:txBody>
      </p:sp>
    </p:spTree>
    <p:extLst>
      <p:ext uri="{BB962C8B-B14F-4D97-AF65-F5344CB8AC3E}">
        <p14:creationId xmlns:p14="http://schemas.microsoft.com/office/powerpoint/2010/main" val="516259670"/>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C00F4EF-F299-46B6-ADB5-75E9B20BCCB5}" type="datetimeFigureOut">
              <a:rPr lang="en-IN" smtClean="0"/>
              <a:t>11-12-2023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C317D90-7CD1-48E3-99E2-47C596547C31}" type="slidenum">
              <a:rPr lang="en-IN" smtClean="0"/>
              <a:t>‹#›</a:t>
            </a:fld>
            <a:endParaRPr lang="en-IN"/>
          </a:p>
        </p:txBody>
      </p:sp>
    </p:spTree>
    <p:extLst>
      <p:ext uri="{BB962C8B-B14F-4D97-AF65-F5344CB8AC3E}">
        <p14:creationId xmlns:p14="http://schemas.microsoft.com/office/powerpoint/2010/main" val="30184353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6C00F4EF-F299-46B6-ADB5-75E9B20BCCB5}" type="datetimeFigureOut">
              <a:rPr lang="en-IN" smtClean="0"/>
              <a:t>11-12-2023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C317D90-7CD1-48E3-99E2-47C596547C31}" type="slidenum">
              <a:rPr lang="en-IN" smtClean="0"/>
              <a:t>‹#›</a:t>
            </a:fld>
            <a:endParaRPr lang="en-IN"/>
          </a:p>
        </p:txBody>
      </p:sp>
    </p:spTree>
    <p:extLst>
      <p:ext uri="{BB962C8B-B14F-4D97-AF65-F5344CB8AC3E}">
        <p14:creationId xmlns:p14="http://schemas.microsoft.com/office/powerpoint/2010/main" val="3271945305"/>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6C00F4EF-F299-46B6-ADB5-75E9B20BCCB5}" type="datetimeFigureOut">
              <a:rPr lang="en-IN" smtClean="0"/>
              <a:t>11-12-2023</a:t>
            </a:fld>
            <a:endParaRPr lang="en-IN"/>
          </a:p>
        </p:txBody>
      </p:sp>
      <p:sp>
        <p:nvSpPr>
          <p:cNvPr id="9" name="Footer Placeholder 8"/>
          <p:cNvSpPr>
            <a:spLocks noGrp="1"/>
          </p:cNvSpPr>
          <p:nvPr>
            <p:ph type="ftr" sz="quarter" idx="11"/>
          </p:nvPr>
        </p:nvSpPr>
        <p:spPr/>
        <p:txBody>
          <a:bodyPr/>
          <a:lstStyle/>
          <a:p>
            <a:endParaRPr lang="en-IN"/>
          </a:p>
        </p:txBody>
      </p:sp>
      <p:sp>
        <p:nvSpPr>
          <p:cNvPr id="10" name="Slide Number Placeholder 9"/>
          <p:cNvSpPr>
            <a:spLocks noGrp="1"/>
          </p:cNvSpPr>
          <p:nvPr>
            <p:ph type="sldNum" sz="quarter" idx="12"/>
          </p:nvPr>
        </p:nvSpPr>
        <p:spPr/>
        <p:txBody>
          <a:bodyPr/>
          <a:lstStyle/>
          <a:p>
            <a:fld id="{FC317D90-7CD1-48E3-99E2-47C596547C31}" type="slidenum">
              <a:rPr lang="en-IN" smtClean="0"/>
              <a:t>‹#›</a:t>
            </a:fld>
            <a:endParaRPr lang="en-IN"/>
          </a:p>
        </p:txBody>
      </p:sp>
    </p:spTree>
    <p:extLst>
      <p:ext uri="{BB962C8B-B14F-4D97-AF65-F5344CB8AC3E}">
        <p14:creationId xmlns:p14="http://schemas.microsoft.com/office/powerpoint/2010/main" val="34317280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6C00F4EF-F299-46B6-ADB5-75E9B20BCCB5}" type="datetimeFigureOut">
              <a:rPr lang="en-IN" smtClean="0"/>
              <a:t>11-12-2023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C317D90-7CD1-48E3-99E2-47C596547C31}" type="slidenum">
              <a:rPr lang="en-IN" smtClean="0"/>
              <a:t>‹#›</a:t>
            </a:fld>
            <a:endParaRPr lang="en-IN"/>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39660878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C00F4EF-F299-46B6-ADB5-75E9B20BCCB5}" type="datetimeFigureOut">
              <a:rPr lang="en-IN" smtClean="0"/>
              <a:t>11-12-2023</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C317D90-7CD1-48E3-99E2-47C596547C31}" type="slidenum">
              <a:rPr lang="en-IN" smtClean="0"/>
              <a:t>‹#›</a:t>
            </a:fld>
            <a:endParaRPr lang="en-IN"/>
          </a:p>
        </p:txBody>
      </p:sp>
    </p:spTree>
    <p:extLst>
      <p:ext uri="{BB962C8B-B14F-4D97-AF65-F5344CB8AC3E}">
        <p14:creationId xmlns:p14="http://schemas.microsoft.com/office/powerpoint/2010/main" val="940050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C00F4EF-F299-46B6-ADB5-75E9B20BCCB5}" type="datetimeFigureOut">
              <a:rPr lang="en-IN" smtClean="0"/>
              <a:t>11-12-2023</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C317D90-7CD1-48E3-99E2-47C596547C31}" type="slidenum">
              <a:rPr lang="en-IN" smtClean="0"/>
              <a:t>‹#›</a:t>
            </a:fld>
            <a:endParaRPr lang="en-IN"/>
          </a:p>
        </p:txBody>
      </p:sp>
    </p:spTree>
    <p:extLst>
      <p:ext uri="{BB962C8B-B14F-4D97-AF65-F5344CB8AC3E}">
        <p14:creationId xmlns:p14="http://schemas.microsoft.com/office/powerpoint/2010/main" val="28933539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p:cNvSpPr>
            <a:spLocks noGrp="1"/>
          </p:cNvSpPr>
          <p:nvPr>
            <p:ph type="dt" sz="half" idx="10"/>
          </p:nvPr>
        </p:nvSpPr>
        <p:spPr/>
        <p:txBody>
          <a:bodyPr/>
          <a:lstStyle/>
          <a:p>
            <a:fld id="{6C00F4EF-F299-46B6-ADB5-75E9B20BCCB5}" type="datetimeFigureOut">
              <a:rPr lang="en-IN" smtClean="0"/>
              <a:t>11-12-2023</a:t>
            </a:fld>
            <a:endParaRPr lang="en-IN"/>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IN"/>
          </a:p>
        </p:txBody>
      </p:sp>
      <p:sp>
        <p:nvSpPr>
          <p:cNvPr id="11" name="Slide Number Placeholder 10"/>
          <p:cNvSpPr>
            <a:spLocks noGrp="1"/>
          </p:cNvSpPr>
          <p:nvPr>
            <p:ph type="sldNum" sz="quarter" idx="12"/>
          </p:nvPr>
        </p:nvSpPr>
        <p:spPr/>
        <p:txBody>
          <a:bodyPr/>
          <a:lstStyle/>
          <a:p>
            <a:fld id="{FC317D90-7CD1-48E3-99E2-47C596547C31}" type="slidenum">
              <a:rPr lang="en-IN" smtClean="0"/>
              <a:t>‹#›</a:t>
            </a:fld>
            <a:endParaRPr lang="en-IN"/>
          </a:p>
        </p:txBody>
      </p:sp>
    </p:spTree>
    <p:extLst>
      <p:ext uri="{BB962C8B-B14F-4D97-AF65-F5344CB8AC3E}">
        <p14:creationId xmlns:p14="http://schemas.microsoft.com/office/powerpoint/2010/main" val="10335925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6C00F4EF-F299-46B6-ADB5-75E9B20BCCB5}" type="datetimeFigureOut">
              <a:rPr lang="en-IN" smtClean="0"/>
              <a:t>11-12-2023</a:t>
            </a:fld>
            <a:endParaRPr lang="en-IN"/>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IN"/>
          </a:p>
        </p:txBody>
      </p:sp>
      <p:sp>
        <p:nvSpPr>
          <p:cNvPr id="10" name="Slide Number Placeholder 9"/>
          <p:cNvSpPr>
            <a:spLocks noGrp="1"/>
          </p:cNvSpPr>
          <p:nvPr>
            <p:ph type="sldNum" sz="quarter" idx="12"/>
          </p:nvPr>
        </p:nvSpPr>
        <p:spPr/>
        <p:txBody>
          <a:bodyPr/>
          <a:lstStyle/>
          <a:p>
            <a:fld id="{FC317D90-7CD1-48E3-99E2-47C596547C31}" type="slidenum">
              <a:rPr lang="en-IN" smtClean="0"/>
              <a:t>‹#›</a:t>
            </a:fld>
            <a:endParaRPr lang="en-IN"/>
          </a:p>
        </p:txBody>
      </p:sp>
    </p:spTree>
    <p:extLst>
      <p:ext uri="{BB962C8B-B14F-4D97-AF65-F5344CB8AC3E}">
        <p14:creationId xmlns:p14="http://schemas.microsoft.com/office/powerpoint/2010/main" val="34246023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C00F4EF-F299-46B6-ADB5-75E9B20BCCB5}" type="datetimeFigureOut">
              <a:rPr lang="en-IN" smtClean="0"/>
              <a:t>11-12-2023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C317D90-7CD1-48E3-99E2-47C596547C31}" type="slidenum">
              <a:rPr lang="en-IN" smtClean="0"/>
              <a:t>‹#›</a:t>
            </a:fld>
            <a:endParaRPr lang="en-IN"/>
          </a:p>
        </p:txBody>
      </p:sp>
    </p:spTree>
    <p:extLst>
      <p:ext uri="{BB962C8B-B14F-4D97-AF65-F5344CB8AC3E}">
        <p14:creationId xmlns:p14="http://schemas.microsoft.com/office/powerpoint/2010/main" val="11182665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C00F4EF-F299-46B6-ADB5-75E9B20BCCB5}" type="datetimeFigureOut">
              <a:rPr lang="en-IN" smtClean="0"/>
              <a:t>11-12-2023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C317D90-7CD1-48E3-99E2-47C596547C31}" type="slidenum">
              <a:rPr lang="en-IN" smtClean="0"/>
              <a:t>‹#›</a:t>
            </a:fld>
            <a:endParaRPr lang="en-IN"/>
          </a:p>
        </p:txBody>
      </p:sp>
    </p:spTree>
    <p:extLst>
      <p:ext uri="{BB962C8B-B14F-4D97-AF65-F5344CB8AC3E}">
        <p14:creationId xmlns:p14="http://schemas.microsoft.com/office/powerpoint/2010/main" val="1503475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6C00F4EF-F299-46B6-ADB5-75E9B20BCCB5}" type="datetimeFigureOut">
              <a:rPr lang="en-IN" smtClean="0"/>
              <a:t>11-12-2023</a:t>
            </a:fld>
            <a:endParaRPr lang="en-IN"/>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IN"/>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FC317D90-7CD1-48E3-99E2-47C596547C31}" type="slidenum">
              <a:rPr lang="en-IN" smtClean="0"/>
              <a:t>‹#›</a:t>
            </a:fld>
            <a:endParaRPr lang="en-IN"/>
          </a:p>
        </p:txBody>
      </p:sp>
    </p:spTree>
    <p:extLst>
      <p:ext uri="{BB962C8B-B14F-4D97-AF65-F5344CB8AC3E}">
        <p14:creationId xmlns:p14="http://schemas.microsoft.com/office/powerpoint/2010/main" val="3825527776"/>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Lst>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5E4FC7-F2EB-85C1-AFF2-88A8C13092F1}"/>
              </a:ext>
            </a:extLst>
          </p:cNvPr>
          <p:cNvSpPr>
            <a:spLocks noGrp="1"/>
          </p:cNvSpPr>
          <p:nvPr>
            <p:ph type="ctrTitle"/>
          </p:nvPr>
        </p:nvSpPr>
        <p:spPr/>
        <p:txBody>
          <a:bodyPr/>
          <a:lstStyle/>
          <a:p>
            <a:r>
              <a:rPr lang="en-US" dirty="0"/>
              <a:t>Realtime </a:t>
            </a:r>
            <a:br>
              <a:rPr lang="en-US" dirty="0"/>
            </a:br>
            <a:r>
              <a:rPr lang="en-US" dirty="0"/>
              <a:t>Chat Application</a:t>
            </a:r>
            <a:endParaRPr lang="en-IN" dirty="0"/>
          </a:p>
        </p:txBody>
      </p:sp>
      <p:sp>
        <p:nvSpPr>
          <p:cNvPr id="5" name="Subtitle 4">
            <a:extLst>
              <a:ext uri="{FF2B5EF4-FFF2-40B4-BE49-F238E27FC236}">
                <a16:creationId xmlns:a16="http://schemas.microsoft.com/office/drawing/2014/main" id="{B748EB83-A321-50FA-F850-44164D27DC9E}"/>
              </a:ext>
            </a:extLst>
          </p:cNvPr>
          <p:cNvSpPr>
            <a:spLocks noGrp="1"/>
          </p:cNvSpPr>
          <p:nvPr>
            <p:ph type="subTitle" idx="1"/>
          </p:nvPr>
        </p:nvSpPr>
        <p:spPr/>
        <p:txBody>
          <a:bodyPr>
            <a:normAutofit/>
          </a:bodyPr>
          <a:lstStyle/>
          <a:p>
            <a:r>
              <a:rPr lang="en-GB" dirty="0"/>
              <a:t>Prepared by Adityan </a:t>
            </a:r>
            <a:r>
              <a:rPr lang="en-GB" dirty="0" smtClean="0"/>
              <a:t>Verma</a:t>
            </a:r>
            <a:endParaRPr lang="en-GB" dirty="0"/>
          </a:p>
          <a:p>
            <a:r>
              <a:rPr lang="en-GB" dirty="0"/>
              <a:t>Delhi Technical Campus, Greater </a:t>
            </a:r>
            <a:r>
              <a:rPr lang="en-GB" dirty="0" smtClean="0"/>
              <a:t>Noida</a:t>
            </a:r>
            <a:endParaRPr lang="en-GB" dirty="0"/>
          </a:p>
        </p:txBody>
      </p:sp>
    </p:spTree>
    <p:extLst>
      <p:ext uri="{BB962C8B-B14F-4D97-AF65-F5344CB8AC3E}">
        <p14:creationId xmlns:p14="http://schemas.microsoft.com/office/powerpoint/2010/main" val="147516844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337C99-03E1-0C51-229F-6A273F13DF5F}"/>
              </a:ext>
            </a:extLst>
          </p:cNvPr>
          <p:cNvSpPr>
            <a:spLocks noGrp="1"/>
          </p:cNvSpPr>
          <p:nvPr>
            <p:ph type="title"/>
          </p:nvPr>
        </p:nvSpPr>
        <p:spPr>
          <a:xfrm>
            <a:off x="2231136" y="964691"/>
            <a:ext cx="7729728" cy="4789127"/>
          </a:xfrm>
        </p:spPr>
        <p:txBody>
          <a:bodyPr>
            <a:normAutofit/>
          </a:bodyPr>
          <a:lstStyle/>
          <a:p>
            <a:r>
              <a:rPr lang="en-US" u="sng" dirty="0"/>
              <a:t>SECTION – 1</a:t>
            </a:r>
            <a:br>
              <a:rPr lang="en-US" u="sng" dirty="0"/>
            </a:br>
            <a:r>
              <a:rPr lang="en-US" u="sng" dirty="0"/>
              <a:t/>
            </a:r>
            <a:br>
              <a:rPr lang="en-US" u="sng" dirty="0"/>
            </a:br>
            <a:r>
              <a:rPr lang="en-US" u="sng" dirty="0" smtClean="0"/>
              <a:t>Introduction</a:t>
            </a:r>
            <a:endParaRPr lang="en-IN" u="sng" dirty="0"/>
          </a:p>
        </p:txBody>
      </p:sp>
    </p:spTree>
    <p:extLst>
      <p:ext uri="{BB962C8B-B14F-4D97-AF65-F5344CB8AC3E}">
        <p14:creationId xmlns:p14="http://schemas.microsoft.com/office/powerpoint/2010/main" val="32894858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1B5166-9178-AF41-1746-355864E3C8F0}"/>
              </a:ext>
            </a:extLst>
          </p:cNvPr>
          <p:cNvSpPr>
            <a:spLocks noGrp="1"/>
          </p:cNvSpPr>
          <p:nvPr>
            <p:ph type="title"/>
          </p:nvPr>
        </p:nvSpPr>
        <p:spPr>
          <a:xfrm>
            <a:off x="2050138" y="884010"/>
            <a:ext cx="8091723" cy="1294414"/>
          </a:xfrm>
        </p:spPr>
        <p:txBody>
          <a:bodyPr/>
          <a:lstStyle/>
          <a:p>
            <a:r>
              <a:rPr lang="en-IN" dirty="0"/>
              <a:t>Overview of the project</a:t>
            </a:r>
          </a:p>
        </p:txBody>
      </p:sp>
      <p:sp>
        <p:nvSpPr>
          <p:cNvPr id="3" name="Content Placeholder 2">
            <a:extLst>
              <a:ext uri="{FF2B5EF4-FFF2-40B4-BE49-F238E27FC236}">
                <a16:creationId xmlns:a16="http://schemas.microsoft.com/office/drawing/2014/main" id="{0A65FEDE-5363-9881-FC65-42AD1CFA6EC6}"/>
              </a:ext>
            </a:extLst>
          </p:cNvPr>
          <p:cNvSpPr>
            <a:spLocks noGrp="1"/>
          </p:cNvSpPr>
          <p:nvPr>
            <p:ph idx="1"/>
          </p:nvPr>
        </p:nvSpPr>
        <p:spPr/>
        <p:txBody>
          <a:bodyPr>
            <a:noAutofit/>
          </a:bodyPr>
          <a:lstStyle/>
          <a:p>
            <a:pPr marL="0" indent="0" algn="just">
              <a:buNone/>
            </a:pPr>
            <a:r>
              <a:rPr lang="en-GB" dirty="0" smtClean="0">
                <a:latin typeface="Söhne"/>
              </a:rPr>
              <a:t>This </a:t>
            </a:r>
            <a:r>
              <a:rPr lang="en-GB" dirty="0">
                <a:latin typeface="Söhne"/>
              </a:rPr>
              <a:t>project focuses on crafting a Real-time Chat Application tailored for project-based learning at our college. This innovative platform aims to revolutionize collaboration among students and instructors, fostering seamless real-time communication, resource sharing, and teamwork. By creating an environment that encourages active engagement and practical application of knowledge, our goal is to elevate the learning experience, promoting effective collaboration and problem-solving within project-based activities.</a:t>
            </a:r>
            <a:endParaRPr lang="en-US" b="0" i="0" dirty="0">
              <a:effectLst/>
              <a:latin typeface="Söhne"/>
            </a:endParaRPr>
          </a:p>
        </p:txBody>
      </p:sp>
    </p:spTree>
    <p:extLst>
      <p:ext uri="{BB962C8B-B14F-4D97-AF65-F5344CB8AC3E}">
        <p14:creationId xmlns:p14="http://schemas.microsoft.com/office/powerpoint/2010/main" val="279998065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1B5166-9178-AF41-1746-355864E3C8F0}"/>
              </a:ext>
            </a:extLst>
          </p:cNvPr>
          <p:cNvSpPr>
            <a:spLocks noGrp="1"/>
          </p:cNvSpPr>
          <p:nvPr>
            <p:ph type="title"/>
          </p:nvPr>
        </p:nvSpPr>
        <p:spPr>
          <a:xfrm>
            <a:off x="2050138" y="884009"/>
            <a:ext cx="8091723" cy="1280967"/>
          </a:xfrm>
        </p:spPr>
        <p:txBody>
          <a:bodyPr>
            <a:normAutofit/>
          </a:bodyPr>
          <a:lstStyle/>
          <a:p>
            <a:r>
              <a:rPr lang="en-IN" dirty="0"/>
              <a:t>Importance of project-based learning</a:t>
            </a:r>
          </a:p>
        </p:txBody>
      </p:sp>
      <p:sp>
        <p:nvSpPr>
          <p:cNvPr id="3" name="Content Placeholder 2">
            <a:extLst>
              <a:ext uri="{FF2B5EF4-FFF2-40B4-BE49-F238E27FC236}">
                <a16:creationId xmlns:a16="http://schemas.microsoft.com/office/drawing/2014/main" id="{0A65FEDE-5363-9881-FC65-42AD1CFA6EC6}"/>
              </a:ext>
            </a:extLst>
          </p:cNvPr>
          <p:cNvSpPr>
            <a:spLocks noGrp="1"/>
          </p:cNvSpPr>
          <p:nvPr>
            <p:ph idx="1"/>
          </p:nvPr>
        </p:nvSpPr>
        <p:spPr/>
        <p:txBody>
          <a:bodyPr>
            <a:normAutofit/>
          </a:bodyPr>
          <a:lstStyle/>
          <a:p>
            <a:pPr marL="0" indent="0" algn="just">
              <a:buNone/>
            </a:pPr>
            <a:r>
              <a:rPr lang="en-GB" dirty="0">
                <a:latin typeface="Söhne"/>
              </a:rPr>
              <a:t>Project-based learning (PBL) is a vital educational approach that bridges theory with practical application. It empowers students by immersing them in real-world projects, fostering critical thinking, collaboration, and problem-solving skills. PBL engages learners in meaningful tasks, igniting motivation and deep understanding while preparing them for the challenges of the future job market through active participation and interdisciplinary connections.</a:t>
            </a:r>
            <a:endParaRPr lang="en-IN" dirty="0">
              <a:solidFill>
                <a:schemeClr val="tx1"/>
              </a:solidFill>
              <a:latin typeface="Söhne"/>
            </a:endParaRPr>
          </a:p>
        </p:txBody>
      </p:sp>
    </p:spTree>
    <p:extLst>
      <p:ext uri="{BB962C8B-B14F-4D97-AF65-F5344CB8AC3E}">
        <p14:creationId xmlns:p14="http://schemas.microsoft.com/office/powerpoint/2010/main" val="162519544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1B5166-9178-AF41-1746-355864E3C8F0}"/>
              </a:ext>
            </a:extLst>
          </p:cNvPr>
          <p:cNvSpPr>
            <a:spLocks noGrp="1"/>
          </p:cNvSpPr>
          <p:nvPr>
            <p:ph type="title"/>
          </p:nvPr>
        </p:nvSpPr>
        <p:spPr>
          <a:xfrm>
            <a:off x="2050138" y="884009"/>
            <a:ext cx="8091723" cy="1334755"/>
          </a:xfrm>
        </p:spPr>
        <p:txBody>
          <a:bodyPr>
            <a:normAutofit/>
          </a:bodyPr>
          <a:lstStyle/>
          <a:p>
            <a:r>
              <a:rPr lang="en-GB" dirty="0"/>
              <a:t>Purpose of the </a:t>
            </a:r>
            <a:r>
              <a:rPr lang="en-IN" dirty="0"/>
              <a:t>project</a:t>
            </a:r>
          </a:p>
        </p:txBody>
      </p:sp>
      <p:sp>
        <p:nvSpPr>
          <p:cNvPr id="3" name="Content Placeholder 2">
            <a:extLst>
              <a:ext uri="{FF2B5EF4-FFF2-40B4-BE49-F238E27FC236}">
                <a16:creationId xmlns:a16="http://schemas.microsoft.com/office/drawing/2014/main" id="{0A65FEDE-5363-9881-FC65-42AD1CFA6EC6}"/>
              </a:ext>
            </a:extLst>
          </p:cNvPr>
          <p:cNvSpPr>
            <a:spLocks noGrp="1"/>
          </p:cNvSpPr>
          <p:nvPr>
            <p:ph idx="1"/>
          </p:nvPr>
        </p:nvSpPr>
        <p:spPr/>
        <p:txBody>
          <a:bodyPr>
            <a:normAutofit/>
          </a:bodyPr>
          <a:lstStyle/>
          <a:p>
            <a:pPr marL="0" indent="0" algn="just">
              <a:buNone/>
            </a:pPr>
            <a:r>
              <a:rPr lang="en-GB" dirty="0">
                <a:latin typeface="Söhne"/>
              </a:rPr>
              <a:t>The Real-time Chat Application is purpose-built to elevate project-based learning within our college by serving as a robust communication hub. Tailored for seamless interaction, file sharing, and group discussions, this platform facilitates efficient collaboration among students, instructors, and project teams. Its focal objective is to cultivate a cohesive environment that enhances teamwork, encourages idea exchange, and optimizes coordination, thereby refining the overall learning experience within projects.</a:t>
            </a:r>
            <a:endParaRPr lang="en-IN" dirty="0">
              <a:solidFill>
                <a:schemeClr val="tx1"/>
              </a:solidFill>
              <a:latin typeface="Söhne"/>
            </a:endParaRPr>
          </a:p>
        </p:txBody>
      </p:sp>
    </p:spTree>
    <p:extLst>
      <p:ext uri="{BB962C8B-B14F-4D97-AF65-F5344CB8AC3E}">
        <p14:creationId xmlns:p14="http://schemas.microsoft.com/office/powerpoint/2010/main" val="375924152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337C99-03E1-0C51-229F-6A273F13DF5F}"/>
              </a:ext>
            </a:extLst>
          </p:cNvPr>
          <p:cNvSpPr>
            <a:spLocks noGrp="1"/>
          </p:cNvSpPr>
          <p:nvPr>
            <p:ph type="title"/>
          </p:nvPr>
        </p:nvSpPr>
        <p:spPr>
          <a:xfrm>
            <a:off x="2231136" y="964691"/>
            <a:ext cx="7729728" cy="4789127"/>
          </a:xfrm>
        </p:spPr>
        <p:txBody>
          <a:bodyPr>
            <a:normAutofit/>
          </a:bodyPr>
          <a:lstStyle/>
          <a:p>
            <a:r>
              <a:rPr lang="en-US" u="sng" dirty="0"/>
              <a:t>SECTION – </a:t>
            </a:r>
            <a:r>
              <a:rPr lang="en-US" u="sng" dirty="0" smtClean="0"/>
              <a:t>ii</a:t>
            </a:r>
            <a:r>
              <a:rPr lang="en-US" u="sng" dirty="0"/>
              <a:t/>
            </a:r>
            <a:br>
              <a:rPr lang="en-US" u="sng" dirty="0"/>
            </a:br>
            <a:r>
              <a:rPr lang="en-US" u="sng" dirty="0"/>
              <a:t/>
            </a:r>
            <a:br>
              <a:rPr lang="en-US" u="sng" dirty="0"/>
            </a:br>
            <a:r>
              <a:rPr lang="en-US" u="sng" dirty="0"/>
              <a:t>Project Goals</a:t>
            </a:r>
            <a:endParaRPr lang="en-IN" u="sng" dirty="0"/>
          </a:p>
        </p:txBody>
      </p:sp>
    </p:spTree>
    <p:extLst>
      <p:ext uri="{BB962C8B-B14F-4D97-AF65-F5344CB8AC3E}">
        <p14:creationId xmlns:p14="http://schemas.microsoft.com/office/powerpoint/2010/main" val="373418262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1B5166-9178-AF41-1746-355864E3C8F0}"/>
              </a:ext>
            </a:extLst>
          </p:cNvPr>
          <p:cNvSpPr>
            <a:spLocks noGrp="1"/>
          </p:cNvSpPr>
          <p:nvPr>
            <p:ph type="title"/>
          </p:nvPr>
        </p:nvSpPr>
        <p:spPr>
          <a:xfrm>
            <a:off x="2050138" y="884009"/>
            <a:ext cx="8091723" cy="1334755"/>
          </a:xfrm>
        </p:spPr>
        <p:txBody>
          <a:bodyPr>
            <a:normAutofit/>
          </a:bodyPr>
          <a:lstStyle/>
          <a:p>
            <a:r>
              <a:rPr lang="en-GB" dirty="0"/>
              <a:t>objectives of the Real-time Chat Application</a:t>
            </a:r>
            <a:endParaRPr lang="en-IN" dirty="0"/>
          </a:p>
        </p:txBody>
      </p:sp>
      <p:sp>
        <p:nvSpPr>
          <p:cNvPr id="3" name="Content Placeholder 2">
            <a:extLst>
              <a:ext uri="{FF2B5EF4-FFF2-40B4-BE49-F238E27FC236}">
                <a16:creationId xmlns:a16="http://schemas.microsoft.com/office/drawing/2014/main" id="{0A65FEDE-5363-9881-FC65-42AD1CFA6EC6}"/>
              </a:ext>
            </a:extLst>
          </p:cNvPr>
          <p:cNvSpPr>
            <a:spLocks noGrp="1"/>
          </p:cNvSpPr>
          <p:nvPr>
            <p:ph idx="1"/>
          </p:nvPr>
        </p:nvSpPr>
        <p:spPr/>
        <p:txBody>
          <a:bodyPr>
            <a:noAutofit/>
          </a:bodyPr>
          <a:lstStyle/>
          <a:p>
            <a:pPr algn="just"/>
            <a:r>
              <a:rPr lang="en-GB" dirty="0">
                <a:latin typeface="Calibri" panose="020F0502020204030204" pitchFamily="34" charset="0"/>
                <a:cs typeface="Calibri" panose="020F0502020204030204" pitchFamily="34" charset="0"/>
              </a:rPr>
              <a:t>Enable swift, real-time communication among project teams, instructors, and students.</a:t>
            </a:r>
          </a:p>
          <a:p>
            <a:pPr algn="just"/>
            <a:r>
              <a:rPr lang="en-GB" dirty="0">
                <a:latin typeface="Calibri" panose="020F0502020204030204" pitchFamily="34" charset="0"/>
                <a:cs typeface="Calibri" panose="020F0502020204030204" pitchFamily="34" charset="0"/>
              </a:rPr>
              <a:t>Foster seamless collaboration through file sharing and group discussions.</a:t>
            </a:r>
          </a:p>
          <a:p>
            <a:pPr algn="just"/>
            <a:r>
              <a:rPr lang="en-GB" dirty="0">
                <a:latin typeface="Calibri" panose="020F0502020204030204" pitchFamily="34" charset="0"/>
                <a:cs typeface="Calibri" panose="020F0502020204030204" pitchFamily="34" charset="0"/>
              </a:rPr>
              <a:t>Enhance project coordination by aiding in task management and scheduling.</a:t>
            </a:r>
          </a:p>
          <a:p>
            <a:pPr algn="just"/>
            <a:r>
              <a:rPr lang="en-GB" dirty="0">
                <a:latin typeface="Calibri" panose="020F0502020204030204" pitchFamily="34" charset="0"/>
                <a:cs typeface="Calibri" panose="020F0502020204030204" pitchFamily="34" charset="0"/>
              </a:rPr>
              <a:t>Facilitate easy access to project-related resources and materials.</a:t>
            </a:r>
          </a:p>
          <a:p>
            <a:pPr algn="just"/>
            <a:r>
              <a:rPr lang="en-GB" dirty="0">
                <a:latin typeface="Calibri" panose="020F0502020204030204" pitchFamily="34" charset="0"/>
                <a:cs typeface="Calibri" panose="020F0502020204030204" pitchFamily="34" charset="0"/>
              </a:rPr>
              <a:t>Ensure a user-friendly interface for efficient utilization.</a:t>
            </a:r>
          </a:p>
          <a:p>
            <a:pPr algn="just"/>
            <a:r>
              <a:rPr lang="en-GB" dirty="0">
                <a:latin typeface="Calibri" panose="020F0502020204030204" pitchFamily="34" charset="0"/>
                <a:cs typeface="Calibri" panose="020F0502020204030204" pitchFamily="34" charset="0"/>
              </a:rPr>
              <a:t>Guarantee platform security and reliability.</a:t>
            </a:r>
          </a:p>
          <a:p>
            <a:pPr algn="just"/>
            <a:r>
              <a:rPr lang="en-GB" dirty="0">
                <a:latin typeface="Calibri" panose="020F0502020204030204" pitchFamily="34" charset="0"/>
                <a:cs typeface="Calibri" panose="020F0502020204030204" pitchFamily="34" charset="0"/>
              </a:rPr>
              <a:t>Implement a feedback mechanism for continuous improvement.</a:t>
            </a:r>
          </a:p>
        </p:txBody>
      </p:sp>
    </p:spTree>
    <p:extLst>
      <p:ext uri="{BB962C8B-B14F-4D97-AF65-F5344CB8AC3E}">
        <p14:creationId xmlns:p14="http://schemas.microsoft.com/office/powerpoint/2010/main" val="171676866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1B5166-9178-AF41-1746-355864E3C8F0}"/>
              </a:ext>
            </a:extLst>
          </p:cNvPr>
          <p:cNvSpPr>
            <a:spLocks noGrp="1"/>
          </p:cNvSpPr>
          <p:nvPr>
            <p:ph type="title"/>
          </p:nvPr>
        </p:nvSpPr>
        <p:spPr>
          <a:xfrm>
            <a:off x="2050136" y="507491"/>
            <a:ext cx="8091723" cy="1334755"/>
          </a:xfrm>
        </p:spPr>
        <p:txBody>
          <a:bodyPr>
            <a:normAutofit/>
          </a:bodyPr>
          <a:lstStyle/>
          <a:p>
            <a:r>
              <a:rPr lang="en-GB" dirty="0"/>
              <a:t>How it supports project-based learning</a:t>
            </a:r>
            <a:endParaRPr lang="en-IN" dirty="0"/>
          </a:p>
        </p:txBody>
      </p:sp>
      <p:sp>
        <p:nvSpPr>
          <p:cNvPr id="3" name="Content Placeholder 2">
            <a:extLst>
              <a:ext uri="{FF2B5EF4-FFF2-40B4-BE49-F238E27FC236}">
                <a16:creationId xmlns:a16="http://schemas.microsoft.com/office/drawing/2014/main" id="{0A65FEDE-5363-9881-FC65-42AD1CFA6EC6}"/>
              </a:ext>
            </a:extLst>
          </p:cNvPr>
          <p:cNvSpPr>
            <a:spLocks noGrp="1"/>
          </p:cNvSpPr>
          <p:nvPr>
            <p:ph idx="1"/>
          </p:nvPr>
        </p:nvSpPr>
        <p:spPr>
          <a:xfrm>
            <a:off x="2127725" y="2164975"/>
            <a:ext cx="7936543" cy="4370295"/>
          </a:xfrm>
        </p:spPr>
        <p:txBody>
          <a:bodyPr>
            <a:noAutofit/>
          </a:bodyPr>
          <a:lstStyle/>
          <a:p>
            <a:pPr marL="0" indent="0" algn="just">
              <a:spcBef>
                <a:spcPts val="0"/>
              </a:spcBef>
              <a:spcAft>
                <a:spcPts val="2000"/>
              </a:spcAft>
              <a:buNone/>
            </a:pPr>
            <a:r>
              <a:rPr lang="en-GB" dirty="0">
                <a:latin typeface="Calibri" panose="020F0502020204030204" pitchFamily="34" charset="0"/>
                <a:cs typeface="Calibri" panose="020F0502020204030204" pitchFamily="34" charset="0"/>
              </a:rPr>
              <a:t>The Real-time Chat Application supports project-based learning </a:t>
            </a:r>
            <a:r>
              <a:rPr lang="en-GB" dirty="0" smtClean="0">
                <a:latin typeface="Calibri" panose="020F0502020204030204" pitchFamily="34" charset="0"/>
                <a:cs typeface="Calibri" panose="020F0502020204030204" pitchFamily="34" charset="0"/>
              </a:rPr>
              <a:t>by</a:t>
            </a:r>
            <a:r>
              <a:rPr lang="en-GB" dirty="0">
                <a:latin typeface="Calibri" panose="020F0502020204030204" pitchFamily="34" charset="0"/>
                <a:cs typeface="Calibri" panose="020F0502020204030204" pitchFamily="34" charset="0"/>
              </a:rPr>
              <a:t>:</a:t>
            </a:r>
          </a:p>
          <a:p>
            <a:pPr algn="just"/>
            <a:r>
              <a:rPr lang="en-GB" dirty="0">
                <a:latin typeface="Calibri" panose="020F0502020204030204" pitchFamily="34" charset="0"/>
                <a:cs typeface="Calibri" panose="020F0502020204030204" pitchFamily="34" charset="0"/>
              </a:rPr>
              <a:t>Facilitating </a:t>
            </a:r>
            <a:r>
              <a:rPr lang="en-GB" dirty="0" smtClean="0">
                <a:latin typeface="Calibri" panose="020F0502020204030204" pitchFamily="34" charset="0"/>
                <a:cs typeface="Calibri" panose="020F0502020204030204" pitchFamily="34" charset="0"/>
              </a:rPr>
              <a:t>Collaboration</a:t>
            </a:r>
          </a:p>
          <a:p>
            <a:pPr algn="just"/>
            <a:r>
              <a:rPr lang="en-GB" dirty="0" smtClean="0">
                <a:latin typeface="Calibri" panose="020F0502020204030204" pitchFamily="34" charset="0"/>
                <a:cs typeface="Calibri" panose="020F0502020204030204" pitchFamily="34" charset="0"/>
              </a:rPr>
              <a:t>Enhancing Communication</a:t>
            </a:r>
          </a:p>
          <a:p>
            <a:pPr algn="just"/>
            <a:r>
              <a:rPr lang="en-GB" dirty="0" smtClean="0">
                <a:latin typeface="Calibri" panose="020F0502020204030204" pitchFamily="34" charset="0"/>
                <a:cs typeface="Calibri" panose="020F0502020204030204" pitchFamily="34" charset="0"/>
              </a:rPr>
              <a:t>Enabling </a:t>
            </a:r>
            <a:r>
              <a:rPr lang="en-GB" dirty="0">
                <a:latin typeface="Calibri" panose="020F0502020204030204" pitchFamily="34" charset="0"/>
                <a:cs typeface="Calibri" panose="020F0502020204030204" pitchFamily="34" charset="0"/>
              </a:rPr>
              <a:t>Resource </a:t>
            </a:r>
            <a:r>
              <a:rPr lang="en-GB" dirty="0" smtClean="0">
                <a:latin typeface="Calibri" panose="020F0502020204030204" pitchFamily="34" charset="0"/>
                <a:cs typeface="Calibri" panose="020F0502020204030204" pitchFamily="34" charset="0"/>
              </a:rPr>
              <a:t>Sharing</a:t>
            </a:r>
          </a:p>
          <a:p>
            <a:pPr algn="just"/>
            <a:r>
              <a:rPr lang="en-GB" dirty="0" smtClean="0">
                <a:latin typeface="Calibri" panose="020F0502020204030204" pitchFamily="34" charset="0"/>
                <a:cs typeface="Calibri" panose="020F0502020204030204" pitchFamily="34" charset="0"/>
              </a:rPr>
              <a:t>Streamlining </a:t>
            </a:r>
            <a:r>
              <a:rPr lang="en-GB" dirty="0">
                <a:latin typeface="Calibri" panose="020F0502020204030204" pitchFamily="34" charset="0"/>
                <a:cs typeface="Calibri" panose="020F0502020204030204" pitchFamily="34" charset="0"/>
              </a:rPr>
              <a:t>Project </a:t>
            </a:r>
            <a:r>
              <a:rPr lang="en-GB" dirty="0" smtClean="0">
                <a:latin typeface="Calibri" panose="020F0502020204030204" pitchFamily="34" charset="0"/>
                <a:cs typeface="Calibri" panose="020F0502020204030204" pitchFamily="34" charset="0"/>
              </a:rPr>
              <a:t>Management</a:t>
            </a:r>
          </a:p>
          <a:p>
            <a:pPr algn="just"/>
            <a:r>
              <a:rPr lang="en-GB" dirty="0" smtClean="0">
                <a:latin typeface="Calibri" panose="020F0502020204030204" pitchFamily="34" charset="0"/>
                <a:cs typeface="Calibri" panose="020F0502020204030204" pitchFamily="34" charset="0"/>
              </a:rPr>
              <a:t>Encouraging </a:t>
            </a:r>
            <a:r>
              <a:rPr lang="en-GB" dirty="0">
                <a:latin typeface="Calibri" panose="020F0502020204030204" pitchFamily="34" charset="0"/>
                <a:cs typeface="Calibri" panose="020F0502020204030204" pitchFamily="34" charset="0"/>
              </a:rPr>
              <a:t>Active </a:t>
            </a:r>
            <a:r>
              <a:rPr lang="en-GB" dirty="0" smtClean="0">
                <a:latin typeface="Calibri" panose="020F0502020204030204" pitchFamily="34" charset="0"/>
                <a:cs typeface="Calibri" panose="020F0502020204030204" pitchFamily="34" charset="0"/>
              </a:rPr>
              <a:t>Participation</a:t>
            </a:r>
          </a:p>
          <a:p>
            <a:pPr algn="just"/>
            <a:r>
              <a:rPr lang="en-GB" dirty="0" smtClean="0">
                <a:latin typeface="Calibri" panose="020F0502020204030204" pitchFamily="34" charset="0"/>
                <a:cs typeface="Calibri" panose="020F0502020204030204" pitchFamily="34" charset="0"/>
              </a:rPr>
              <a:t>Fostering </a:t>
            </a:r>
            <a:r>
              <a:rPr lang="en-GB" dirty="0">
                <a:latin typeface="Calibri" panose="020F0502020204030204" pitchFamily="34" charset="0"/>
                <a:cs typeface="Calibri" panose="020F0502020204030204" pitchFamily="34" charset="0"/>
              </a:rPr>
              <a:t>a Supportive </a:t>
            </a:r>
            <a:r>
              <a:rPr lang="en-GB" dirty="0" smtClean="0">
                <a:latin typeface="Calibri" panose="020F0502020204030204" pitchFamily="34" charset="0"/>
                <a:cs typeface="Calibri" panose="020F0502020204030204" pitchFamily="34" charset="0"/>
              </a:rPr>
              <a:t>Environment</a:t>
            </a:r>
            <a:endParaRPr lang="en-GB" dirty="0">
              <a:latin typeface="Calibri" panose="020F0502020204030204" pitchFamily="34" charset="0"/>
              <a:cs typeface="Calibri" panose="020F0502020204030204" pitchFamily="34" charset="0"/>
            </a:endParaRPr>
          </a:p>
          <a:p>
            <a:pPr marL="0" indent="0" algn="just">
              <a:spcBef>
                <a:spcPts val="2000"/>
              </a:spcBef>
              <a:buNone/>
            </a:pPr>
            <a:r>
              <a:rPr lang="en-GB" dirty="0">
                <a:latin typeface="Calibri" panose="020F0502020204030204" pitchFamily="34" charset="0"/>
                <a:cs typeface="Calibri" panose="020F0502020204030204" pitchFamily="34" charset="0"/>
              </a:rPr>
              <a:t>By catering to these aspects, the application becomes an integral tool that complements and augments the overall project-based learning experience, facilitating efficient collaboration, communication, and knowledge exchange among participants.</a:t>
            </a:r>
          </a:p>
        </p:txBody>
      </p:sp>
    </p:spTree>
    <p:extLst>
      <p:ext uri="{BB962C8B-B14F-4D97-AF65-F5344CB8AC3E}">
        <p14:creationId xmlns:p14="http://schemas.microsoft.com/office/powerpoint/2010/main" val="357345970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337C99-03E1-0C51-229F-6A273F13DF5F}"/>
              </a:ext>
            </a:extLst>
          </p:cNvPr>
          <p:cNvSpPr>
            <a:spLocks noGrp="1"/>
          </p:cNvSpPr>
          <p:nvPr>
            <p:ph type="title"/>
          </p:nvPr>
        </p:nvSpPr>
        <p:spPr>
          <a:xfrm>
            <a:off x="2231136" y="964691"/>
            <a:ext cx="7729728" cy="4789127"/>
          </a:xfrm>
        </p:spPr>
        <p:txBody>
          <a:bodyPr>
            <a:normAutofit/>
          </a:bodyPr>
          <a:lstStyle/>
          <a:p>
            <a:r>
              <a:rPr lang="en-US" u="sng" dirty="0"/>
              <a:t>SECTION – </a:t>
            </a:r>
            <a:r>
              <a:rPr lang="en-US" u="sng" dirty="0" err="1" smtClean="0"/>
              <a:t>iiI</a:t>
            </a:r>
            <a:r>
              <a:rPr lang="en-US" u="sng" dirty="0"/>
              <a:t/>
            </a:r>
            <a:br>
              <a:rPr lang="en-US" u="sng" dirty="0"/>
            </a:br>
            <a:r>
              <a:rPr lang="en-US" u="sng" dirty="0"/>
              <a:t/>
            </a:r>
            <a:br>
              <a:rPr lang="en-US" u="sng" dirty="0"/>
            </a:br>
            <a:r>
              <a:rPr lang="en-US" u="sng" dirty="0"/>
              <a:t>Technical Specifications</a:t>
            </a:r>
            <a:endParaRPr lang="en-IN" u="sng" dirty="0"/>
          </a:p>
        </p:txBody>
      </p:sp>
    </p:spTree>
    <p:extLst>
      <p:ext uri="{BB962C8B-B14F-4D97-AF65-F5344CB8AC3E}">
        <p14:creationId xmlns:p14="http://schemas.microsoft.com/office/powerpoint/2010/main" val="320128945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1B5166-9178-AF41-1746-355864E3C8F0}"/>
              </a:ext>
            </a:extLst>
          </p:cNvPr>
          <p:cNvSpPr>
            <a:spLocks noGrp="1"/>
          </p:cNvSpPr>
          <p:nvPr>
            <p:ph type="title"/>
          </p:nvPr>
        </p:nvSpPr>
        <p:spPr>
          <a:xfrm>
            <a:off x="0" y="1"/>
            <a:ext cx="4948517" cy="6858000"/>
          </a:xfrm>
        </p:spPr>
        <p:txBody>
          <a:bodyPr>
            <a:normAutofit/>
          </a:bodyPr>
          <a:lstStyle/>
          <a:p>
            <a:pPr>
              <a:lnSpc>
                <a:spcPct val="100000"/>
              </a:lnSpc>
            </a:pPr>
            <a:r>
              <a:rPr lang="en-GB" dirty="0"/>
              <a:t>Technical requirements </a:t>
            </a:r>
            <a:r>
              <a:rPr lang="en-GB" dirty="0" smtClean="0"/>
              <a:t/>
            </a:r>
            <a:br>
              <a:rPr lang="en-GB" dirty="0" smtClean="0"/>
            </a:br>
            <a:r>
              <a:rPr lang="en-GB" dirty="0" smtClean="0"/>
              <a:t>for </a:t>
            </a:r>
            <a:br>
              <a:rPr lang="en-GB" dirty="0" smtClean="0"/>
            </a:br>
            <a:r>
              <a:rPr lang="en-GB" dirty="0" smtClean="0"/>
              <a:t>Real-time </a:t>
            </a:r>
            <a:r>
              <a:rPr lang="en-GB" dirty="0"/>
              <a:t>Chat Application</a:t>
            </a:r>
            <a:endParaRPr lang="en-IN" dirty="0"/>
          </a:p>
        </p:txBody>
      </p:sp>
      <p:sp>
        <p:nvSpPr>
          <p:cNvPr id="3" name="Content Placeholder 2">
            <a:extLst>
              <a:ext uri="{FF2B5EF4-FFF2-40B4-BE49-F238E27FC236}">
                <a16:creationId xmlns:a16="http://schemas.microsoft.com/office/drawing/2014/main" id="{0A65FEDE-5363-9881-FC65-42AD1CFA6EC6}"/>
              </a:ext>
            </a:extLst>
          </p:cNvPr>
          <p:cNvSpPr>
            <a:spLocks noGrp="1"/>
          </p:cNvSpPr>
          <p:nvPr>
            <p:ph idx="1"/>
          </p:nvPr>
        </p:nvSpPr>
        <p:spPr>
          <a:xfrm>
            <a:off x="5069541" y="581586"/>
            <a:ext cx="6938683" cy="5694829"/>
          </a:xfrm>
        </p:spPr>
        <p:txBody>
          <a:bodyPr>
            <a:normAutofit fontScale="92500" lnSpcReduction="10000"/>
          </a:bodyPr>
          <a:lstStyle/>
          <a:p>
            <a:pPr marL="342900" indent="-342900" algn="just">
              <a:spcBef>
                <a:spcPts val="1200"/>
              </a:spcBef>
              <a:buClr>
                <a:schemeClr val="tx1"/>
              </a:buClr>
              <a:buFont typeface="+mj-lt"/>
              <a:buAutoNum type="arabicPeriod"/>
            </a:pPr>
            <a:r>
              <a:rPr lang="en-GB" b="1" dirty="0" smtClean="0">
                <a:latin typeface="Calibri" panose="020F0502020204030204" pitchFamily="34" charset="0"/>
                <a:cs typeface="Calibri" panose="020F0502020204030204" pitchFamily="34" charset="0"/>
              </a:rPr>
              <a:t>Real-time </a:t>
            </a:r>
            <a:r>
              <a:rPr lang="en-GB" b="1" dirty="0">
                <a:latin typeface="Calibri" panose="020F0502020204030204" pitchFamily="34" charset="0"/>
                <a:cs typeface="Calibri" panose="020F0502020204030204" pitchFamily="34" charset="0"/>
              </a:rPr>
              <a:t>Messaging</a:t>
            </a:r>
            <a:r>
              <a:rPr lang="en-GB" dirty="0">
                <a:latin typeface="Calibri" panose="020F0502020204030204" pitchFamily="34" charset="0"/>
                <a:cs typeface="Calibri" panose="020F0502020204030204" pitchFamily="34" charset="0"/>
              </a:rPr>
              <a:t>: Implementing a robust messaging system that ensures instant communication among users.</a:t>
            </a:r>
          </a:p>
          <a:p>
            <a:pPr marL="342900" indent="-342900" algn="just">
              <a:spcBef>
                <a:spcPts val="1200"/>
              </a:spcBef>
              <a:buClr>
                <a:schemeClr val="tx1"/>
              </a:buClr>
              <a:buFont typeface="+mj-lt"/>
              <a:buAutoNum type="arabicPeriod"/>
            </a:pPr>
            <a:r>
              <a:rPr lang="en-GB" b="1" dirty="0">
                <a:latin typeface="Calibri" panose="020F0502020204030204" pitchFamily="34" charset="0"/>
                <a:cs typeface="Calibri" panose="020F0502020204030204" pitchFamily="34" charset="0"/>
              </a:rPr>
              <a:t>User Authentication</a:t>
            </a:r>
            <a:r>
              <a:rPr lang="en-GB" dirty="0">
                <a:latin typeface="Calibri" panose="020F0502020204030204" pitchFamily="34" charset="0"/>
                <a:cs typeface="Calibri" panose="020F0502020204030204" pitchFamily="34" charset="0"/>
              </a:rPr>
              <a:t>: Secure login and authentication mechanisms to protect user data.</a:t>
            </a:r>
          </a:p>
          <a:p>
            <a:pPr marL="342900" indent="-342900" algn="just">
              <a:spcBef>
                <a:spcPts val="1200"/>
              </a:spcBef>
              <a:buClr>
                <a:schemeClr val="tx1"/>
              </a:buClr>
              <a:buFont typeface="+mj-lt"/>
              <a:buAutoNum type="arabicPeriod"/>
            </a:pPr>
            <a:r>
              <a:rPr lang="en-GB" b="1" dirty="0">
                <a:latin typeface="Calibri" panose="020F0502020204030204" pitchFamily="34" charset="0"/>
                <a:cs typeface="Calibri" panose="020F0502020204030204" pitchFamily="34" charset="0"/>
              </a:rPr>
              <a:t>Group Chat Functionality</a:t>
            </a:r>
            <a:r>
              <a:rPr lang="en-GB" dirty="0">
                <a:latin typeface="Calibri" panose="020F0502020204030204" pitchFamily="34" charset="0"/>
                <a:cs typeface="Calibri" panose="020F0502020204030204" pitchFamily="34" charset="0"/>
              </a:rPr>
              <a:t>: Ability to create, join, and manage group conversations.</a:t>
            </a:r>
          </a:p>
          <a:p>
            <a:pPr marL="342900" indent="-342900" algn="just">
              <a:spcBef>
                <a:spcPts val="1200"/>
              </a:spcBef>
              <a:buClr>
                <a:schemeClr val="tx1"/>
              </a:buClr>
              <a:buFont typeface="+mj-lt"/>
              <a:buAutoNum type="arabicPeriod"/>
            </a:pPr>
            <a:r>
              <a:rPr lang="en-GB" b="1" dirty="0">
                <a:latin typeface="Calibri" panose="020F0502020204030204" pitchFamily="34" charset="0"/>
                <a:cs typeface="Calibri" panose="020F0502020204030204" pitchFamily="34" charset="0"/>
              </a:rPr>
              <a:t>File Sharing</a:t>
            </a:r>
            <a:r>
              <a:rPr lang="en-GB" dirty="0">
                <a:latin typeface="Calibri" panose="020F0502020204030204" pitchFamily="34" charset="0"/>
                <a:cs typeface="Calibri" panose="020F0502020204030204" pitchFamily="34" charset="0"/>
              </a:rPr>
              <a:t>: Support for sharing various file types among users or groups.</a:t>
            </a:r>
          </a:p>
          <a:p>
            <a:pPr marL="342900" indent="-342900" algn="just">
              <a:spcBef>
                <a:spcPts val="1200"/>
              </a:spcBef>
              <a:buClr>
                <a:schemeClr val="tx1"/>
              </a:buClr>
              <a:buFont typeface="+mj-lt"/>
              <a:buAutoNum type="arabicPeriod"/>
            </a:pPr>
            <a:r>
              <a:rPr lang="en-GB" b="1" dirty="0">
                <a:latin typeface="Calibri" panose="020F0502020204030204" pitchFamily="34" charset="0"/>
                <a:cs typeface="Calibri" panose="020F0502020204030204" pitchFamily="34" charset="0"/>
              </a:rPr>
              <a:t>Scalability</a:t>
            </a:r>
            <a:r>
              <a:rPr lang="en-GB" dirty="0">
                <a:latin typeface="Calibri" panose="020F0502020204030204" pitchFamily="34" charset="0"/>
                <a:cs typeface="Calibri" panose="020F0502020204030204" pitchFamily="34" charset="0"/>
              </a:rPr>
              <a:t>: Ability to handle increasing user loads without compromising performance.</a:t>
            </a:r>
          </a:p>
          <a:p>
            <a:pPr marL="342900" indent="-342900" algn="just">
              <a:spcBef>
                <a:spcPts val="1200"/>
              </a:spcBef>
              <a:buClr>
                <a:schemeClr val="tx1"/>
              </a:buClr>
              <a:buFont typeface="+mj-lt"/>
              <a:buAutoNum type="arabicPeriod"/>
            </a:pPr>
            <a:r>
              <a:rPr lang="en-GB" b="1" dirty="0">
                <a:latin typeface="Calibri" panose="020F0502020204030204" pitchFamily="34" charset="0"/>
                <a:cs typeface="Calibri" panose="020F0502020204030204" pitchFamily="34" charset="0"/>
              </a:rPr>
              <a:t>Cross-Platform Compatibility</a:t>
            </a:r>
            <a:r>
              <a:rPr lang="en-GB" dirty="0">
                <a:latin typeface="Calibri" panose="020F0502020204030204" pitchFamily="34" charset="0"/>
                <a:cs typeface="Calibri" panose="020F0502020204030204" pitchFamily="34" charset="0"/>
              </a:rPr>
              <a:t>: Compatibility across different devices and operating systems.</a:t>
            </a:r>
          </a:p>
          <a:p>
            <a:pPr marL="342900" indent="-342900" algn="just">
              <a:spcBef>
                <a:spcPts val="1200"/>
              </a:spcBef>
              <a:buClr>
                <a:schemeClr val="tx1"/>
              </a:buClr>
              <a:buFont typeface="+mj-lt"/>
              <a:buAutoNum type="arabicPeriod"/>
            </a:pPr>
            <a:r>
              <a:rPr lang="en-GB" b="1" dirty="0">
                <a:latin typeface="Calibri" panose="020F0502020204030204" pitchFamily="34" charset="0"/>
                <a:cs typeface="Calibri" panose="020F0502020204030204" pitchFamily="34" charset="0"/>
              </a:rPr>
              <a:t>Security Measures</a:t>
            </a:r>
            <a:r>
              <a:rPr lang="en-GB" dirty="0">
                <a:latin typeface="Calibri" panose="020F0502020204030204" pitchFamily="34" charset="0"/>
                <a:cs typeface="Calibri" panose="020F0502020204030204" pitchFamily="34" charset="0"/>
              </a:rPr>
              <a:t>: Encryption protocols and secure data storage to protect user information.</a:t>
            </a:r>
          </a:p>
          <a:p>
            <a:pPr marL="342900" indent="-342900" algn="just">
              <a:spcBef>
                <a:spcPts val="1200"/>
              </a:spcBef>
              <a:buClr>
                <a:schemeClr val="tx1"/>
              </a:buClr>
              <a:buFont typeface="+mj-lt"/>
              <a:buAutoNum type="arabicPeriod"/>
            </a:pPr>
            <a:r>
              <a:rPr lang="en-GB" b="1" dirty="0">
                <a:latin typeface="Calibri" panose="020F0502020204030204" pitchFamily="34" charset="0"/>
                <a:cs typeface="Calibri" panose="020F0502020204030204" pitchFamily="34" charset="0"/>
              </a:rPr>
              <a:t>User-Friendly Interface</a:t>
            </a:r>
            <a:r>
              <a:rPr lang="en-GB" dirty="0">
                <a:latin typeface="Calibri" panose="020F0502020204030204" pitchFamily="34" charset="0"/>
                <a:cs typeface="Calibri" panose="020F0502020204030204" pitchFamily="34" charset="0"/>
              </a:rPr>
              <a:t>: Intuitive design for easy navigation and usage.</a:t>
            </a:r>
          </a:p>
          <a:p>
            <a:pPr marL="342900" indent="-342900" algn="just">
              <a:spcBef>
                <a:spcPts val="1200"/>
              </a:spcBef>
              <a:buClr>
                <a:schemeClr val="tx1"/>
              </a:buClr>
              <a:buFont typeface="+mj-lt"/>
              <a:buAutoNum type="arabicPeriod"/>
            </a:pPr>
            <a:r>
              <a:rPr lang="en-GB" b="1" dirty="0">
                <a:latin typeface="Calibri" panose="020F0502020204030204" pitchFamily="34" charset="0"/>
                <a:cs typeface="Calibri" panose="020F0502020204030204" pitchFamily="34" charset="0"/>
              </a:rPr>
              <a:t>Notification System</a:t>
            </a:r>
            <a:r>
              <a:rPr lang="en-GB" dirty="0">
                <a:latin typeface="Calibri" panose="020F0502020204030204" pitchFamily="34" charset="0"/>
                <a:cs typeface="Calibri" panose="020F0502020204030204" pitchFamily="34" charset="0"/>
              </a:rPr>
              <a:t>: Alerts for new messages, updates, or mentions.</a:t>
            </a:r>
          </a:p>
          <a:p>
            <a:pPr marL="342900" indent="-342900" algn="just">
              <a:spcBef>
                <a:spcPts val="1200"/>
              </a:spcBef>
              <a:buClr>
                <a:schemeClr val="tx1"/>
              </a:buClr>
              <a:buFont typeface="+mj-lt"/>
              <a:buAutoNum type="arabicPeriod"/>
            </a:pPr>
            <a:r>
              <a:rPr lang="en-GB" b="1" dirty="0">
                <a:latin typeface="Calibri" panose="020F0502020204030204" pitchFamily="34" charset="0"/>
                <a:cs typeface="Calibri" panose="020F0502020204030204" pitchFamily="34" charset="0"/>
              </a:rPr>
              <a:t>Feedback and Support</a:t>
            </a:r>
            <a:r>
              <a:rPr lang="en-GB" dirty="0">
                <a:latin typeface="Calibri" panose="020F0502020204030204" pitchFamily="34" charset="0"/>
                <a:cs typeface="Calibri" panose="020F0502020204030204" pitchFamily="34" charset="0"/>
              </a:rPr>
              <a:t>: Mechanisms for user feedback and responsive support channels.</a:t>
            </a:r>
          </a:p>
        </p:txBody>
      </p:sp>
    </p:spTree>
    <p:extLst>
      <p:ext uri="{BB962C8B-B14F-4D97-AF65-F5344CB8AC3E}">
        <p14:creationId xmlns:p14="http://schemas.microsoft.com/office/powerpoint/2010/main" val="184403083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1B5166-9178-AF41-1746-355864E3C8F0}"/>
              </a:ext>
            </a:extLst>
          </p:cNvPr>
          <p:cNvSpPr>
            <a:spLocks noGrp="1"/>
          </p:cNvSpPr>
          <p:nvPr>
            <p:ph type="title"/>
          </p:nvPr>
        </p:nvSpPr>
        <p:spPr>
          <a:xfrm>
            <a:off x="0" y="1"/>
            <a:ext cx="4948517" cy="6858000"/>
          </a:xfrm>
        </p:spPr>
        <p:txBody>
          <a:bodyPr>
            <a:normAutofit/>
          </a:bodyPr>
          <a:lstStyle/>
          <a:p>
            <a:pPr>
              <a:lnSpc>
                <a:spcPct val="150000"/>
              </a:lnSpc>
            </a:pPr>
            <a:r>
              <a:rPr lang="en-GB" dirty="0" smtClean="0"/>
              <a:t>Tools,</a:t>
            </a:r>
            <a:br>
              <a:rPr lang="en-GB" dirty="0" smtClean="0"/>
            </a:br>
            <a:r>
              <a:rPr lang="en-GB" dirty="0" smtClean="0"/>
              <a:t>languages</a:t>
            </a:r>
            <a:r>
              <a:rPr lang="en-GB" dirty="0"/>
              <a:t>, frameworks</a:t>
            </a:r>
            <a:endParaRPr lang="en-IN" dirty="0"/>
          </a:p>
        </p:txBody>
      </p:sp>
      <p:sp>
        <p:nvSpPr>
          <p:cNvPr id="3" name="Content Placeholder 2">
            <a:extLst>
              <a:ext uri="{FF2B5EF4-FFF2-40B4-BE49-F238E27FC236}">
                <a16:creationId xmlns:a16="http://schemas.microsoft.com/office/drawing/2014/main" id="{0A65FEDE-5363-9881-FC65-42AD1CFA6EC6}"/>
              </a:ext>
            </a:extLst>
          </p:cNvPr>
          <p:cNvSpPr>
            <a:spLocks noGrp="1"/>
          </p:cNvSpPr>
          <p:nvPr>
            <p:ph idx="1"/>
          </p:nvPr>
        </p:nvSpPr>
        <p:spPr>
          <a:xfrm>
            <a:off x="5069541" y="840442"/>
            <a:ext cx="6938683" cy="5177117"/>
          </a:xfrm>
        </p:spPr>
        <p:txBody>
          <a:bodyPr>
            <a:normAutofit/>
          </a:bodyPr>
          <a:lstStyle/>
          <a:p>
            <a:pPr marL="342900" indent="-342900" algn="just">
              <a:spcBef>
                <a:spcPts val="1200"/>
              </a:spcBef>
              <a:buClr>
                <a:schemeClr val="tx1"/>
              </a:buClr>
              <a:buFont typeface="+mj-lt"/>
              <a:buAutoNum type="arabicPeriod"/>
            </a:pPr>
            <a:r>
              <a:rPr lang="en-GB" b="1" dirty="0" smtClean="0">
                <a:latin typeface="Calibri" panose="020F0502020204030204" pitchFamily="34" charset="0"/>
                <a:cs typeface="Calibri" panose="020F0502020204030204" pitchFamily="34" charset="0"/>
              </a:rPr>
              <a:t>Frontend</a:t>
            </a:r>
            <a:r>
              <a:rPr lang="en-GB" dirty="0" smtClean="0">
                <a:latin typeface="Calibri" panose="020F0502020204030204" pitchFamily="34" charset="0"/>
                <a:cs typeface="Calibri" panose="020F0502020204030204" pitchFamily="34" charset="0"/>
              </a:rPr>
              <a:t>: </a:t>
            </a:r>
            <a:r>
              <a:rPr lang="en-GB" dirty="0">
                <a:latin typeface="Calibri" panose="020F0502020204030204" pitchFamily="34" charset="0"/>
                <a:cs typeface="Calibri" panose="020F0502020204030204" pitchFamily="34" charset="0"/>
              </a:rPr>
              <a:t>Leveraging </a:t>
            </a:r>
            <a:r>
              <a:rPr lang="en-GB" u="sng" dirty="0">
                <a:latin typeface="Calibri" panose="020F0502020204030204" pitchFamily="34" charset="0"/>
                <a:cs typeface="Calibri" panose="020F0502020204030204" pitchFamily="34" charset="0"/>
              </a:rPr>
              <a:t>React</a:t>
            </a:r>
            <a:r>
              <a:rPr lang="en-GB" dirty="0">
                <a:latin typeface="Calibri" panose="020F0502020204030204" pitchFamily="34" charset="0"/>
                <a:cs typeface="Calibri" panose="020F0502020204030204" pitchFamily="34" charset="0"/>
              </a:rPr>
              <a:t> for a dynamic and responsive user interface.</a:t>
            </a:r>
          </a:p>
          <a:p>
            <a:pPr marL="342900" indent="-342900" algn="just">
              <a:spcBef>
                <a:spcPts val="1200"/>
              </a:spcBef>
              <a:buClr>
                <a:schemeClr val="tx1"/>
              </a:buClr>
              <a:buFont typeface="+mj-lt"/>
              <a:buAutoNum type="arabicPeriod"/>
            </a:pPr>
            <a:r>
              <a:rPr lang="en-GB" b="1" dirty="0" smtClean="0">
                <a:latin typeface="Calibri" panose="020F0502020204030204" pitchFamily="34" charset="0"/>
                <a:cs typeface="Calibri" panose="020F0502020204030204" pitchFamily="34" charset="0"/>
              </a:rPr>
              <a:t>Styling</a:t>
            </a:r>
            <a:r>
              <a:rPr lang="en-GB" dirty="0" smtClean="0">
                <a:latin typeface="Calibri" panose="020F0502020204030204" pitchFamily="34" charset="0"/>
                <a:cs typeface="Calibri" panose="020F0502020204030204" pitchFamily="34" charset="0"/>
              </a:rPr>
              <a:t>: </a:t>
            </a:r>
            <a:r>
              <a:rPr lang="en-GB" dirty="0">
                <a:latin typeface="Calibri" panose="020F0502020204030204" pitchFamily="34" charset="0"/>
                <a:cs typeface="Calibri" panose="020F0502020204030204" pitchFamily="34" charset="0"/>
              </a:rPr>
              <a:t>Employing </a:t>
            </a:r>
            <a:r>
              <a:rPr lang="en-GB" u="sng" dirty="0">
                <a:latin typeface="Calibri" panose="020F0502020204030204" pitchFamily="34" charset="0"/>
                <a:cs typeface="Calibri" panose="020F0502020204030204" pitchFamily="34" charset="0"/>
              </a:rPr>
              <a:t>Tailwind</a:t>
            </a:r>
            <a:r>
              <a:rPr lang="en-GB" dirty="0">
                <a:latin typeface="Calibri" panose="020F0502020204030204" pitchFamily="34" charset="0"/>
                <a:cs typeface="Calibri" panose="020F0502020204030204" pitchFamily="34" charset="0"/>
              </a:rPr>
              <a:t> for streamlined and customizable UI design.</a:t>
            </a:r>
          </a:p>
          <a:p>
            <a:pPr marL="342900" indent="-342900" algn="just">
              <a:spcBef>
                <a:spcPts val="1200"/>
              </a:spcBef>
              <a:buClr>
                <a:schemeClr val="tx1"/>
              </a:buClr>
              <a:buFont typeface="+mj-lt"/>
              <a:buAutoNum type="arabicPeriod"/>
            </a:pPr>
            <a:r>
              <a:rPr lang="en-GB" b="1" dirty="0" smtClean="0">
                <a:latin typeface="Calibri" panose="020F0502020204030204" pitchFamily="34" charset="0"/>
                <a:cs typeface="Calibri" panose="020F0502020204030204" pitchFamily="34" charset="0"/>
              </a:rPr>
              <a:t>Backend Services</a:t>
            </a:r>
            <a:r>
              <a:rPr lang="en-GB" dirty="0" smtClean="0">
                <a:latin typeface="Calibri" panose="020F0502020204030204" pitchFamily="34" charset="0"/>
                <a:cs typeface="Calibri" panose="020F0502020204030204" pitchFamily="34" charset="0"/>
              </a:rPr>
              <a:t>: </a:t>
            </a:r>
            <a:r>
              <a:rPr lang="en-GB" dirty="0">
                <a:latin typeface="Calibri" panose="020F0502020204030204" pitchFamily="34" charset="0"/>
                <a:cs typeface="Calibri" panose="020F0502020204030204" pitchFamily="34" charset="0"/>
              </a:rPr>
              <a:t>Utilizing </a:t>
            </a:r>
            <a:r>
              <a:rPr lang="en-GB" u="sng" dirty="0">
                <a:latin typeface="Calibri" panose="020F0502020204030204" pitchFamily="34" charset="0"/>
                <a:cs typeface="Calibri" panose="020F0502020204030204" pitchFamily="34" charset="0"/>
              </a:rPr>
              <a:t>Firebase as a Backend-as-a-Service </a:t>
            </a:r>
            <a:r>
              <a:rPr lang="en-GB" dirty="0">
                <a:latin typeface="Calibri" panose="020F0502020204030204" pitchFamily="34" charset="0"/>
                <a:cs typeface="Calibri" panose="020F0502020204030204" pitchFamily="34" charset="0"/>
              </a:rPr>
              <a:t>solution for authentication and real-time capabilities.</a:t>
            </a:r>
          </a:p>
          <a:p>
            <a:pPr marL="342900" indent="-342900" algn="just">
              <a:spcBef>
                <a:spcPts val="1200"/>
              </a:spcBef>
              <a:buClr>
                <a:schemeClr val="tx1"/>
              </a:buClr>
              <a:buFont typeface="+mj-lt"/>
              <a:buAutoNum type="arabicPeriod"/>
            </a:pPr>
            <a:r>
              <a:rPr lang="en-GB" b="1" dirty="0" smtClean="0">
                <a:latin typeface="Calibri" panose="020F0502020204030204" pitchFamily="34" charset="0"/>
                <a:cs typeface="Calibri" panose="020F0502020204030204" pitchFamily="34" charset="0"/>
              </a:rPr>
              <a:t>Server-side Logic</a:t>
            </a:r>
            <a:r>
              <a:rPr lang="en-GB" dirty="0" smtClean="0">
                <a:latin typeface="Calibri" panose="020F0502020204030204" pitchFamily="34" charset="0"/>
                <a:cs typeface="Calibri" panose="020F0502020204030204" pitchFamily="34" charset="0"/>
              </a:rPr>
              <a:t>: </a:t>
            </a:r>
            <a:r>
              <a:rPr lang="en-GB" dirty="0">
                <a:latin typeface="Calibri" panose="020F0502020204030204" pitchFamily="34" charset="0"/>
                <a:cs typeface="Calibri" panose="020F0502020204030204" pitchFamily="34" charset="0"/>
              </a:rPr>
              <a:t>Employing </a:t>
            </a:r>
            <a:r>
              <a:rPr lang="en-GB" u="sng" dirty="0">
                <a:latin typeface="Calibri" panose="020F0502020204030204" pitchFamily="34" charset="0"/>
                <a:cs typeface="Calibri" panose="020F0502020204030204" pitchFamily="34" charset="0"/>
              </a:rPr>
              <a:t>Node.js</a:t>
            </a:r>
            <a:r>
              <a:rPr lang="en-GB" dirty="0">
                <a:latin typeface="Calibri" panose="020F0502020204030204" pitchFamily="34" charset="0"/>
                <a:cs typeface="Calibri" panose="020F0502020204030204" pitchFamily="34" charset="0"/>
              </a:rPr>
              <a:t> with Express to manage the server-side operations efficiently.</a:t>
            </a:r>
          </a:p>
          <a:p>
            <a:pPr marL="342900" indent="-342900" algn="just">
              <a:spcBef>
                <a:spcPts val="1200"/>
              </a:spcBef>
              <a:buClr>
                <a:schemeClr val="tx1"/>
              </a:buClr>
              <a:buFont typeface="+mj-lt"/>
              <a:buAutoNum type="arabicPeriod"/>
            </a:pPr>
            <a:r>
              <a:rPr lang="en-GB" b="1" dirty="0" smtClean="0">
                <a:latin typeface="Calibri" panose="020F0502020204030204" pitchFamily="34" charset="0"/>
                <a:cs typeface="Calibri" panose="020F0502020204030204" pitchFamily="34" charset="0"/>
              </a:rPr>
              <a:t>Database</a:t>
            </a:r>
            <a:r>
              <a:rPr lang="en-GB" dirty="0" smtClean="0">
                <a:latin typeface="Calibri" panose="020F0502020204030204" pitchFamily="34" charset="0"/>
                <a:cs typeface="Calibri" panose="020F0502020204030204" pitchFamily="34" charset="0"/>
              </a:rPr>
              <a:t>: Implementing </a:t>
            </a:r>
            <a:r>
              <a:rPr lang="en-GB" u="sng" dirty="0" smtClean="0">
                <a:latin typeface="Calibri" panose="020F0502020204030204" pitchFamily="34" charset="0"/>
                <a:cs typeface="Calibri" panose="020F0502020204030204" pitchFamily="34" charset="0"/>
              </a:rPr>
              <a:t>MongoDB</a:t>
            </a:r>
            <a:r>
              <a:rPr lang="en-GB" dirty="0" smtClean="0">
                <a:latin typeface="Calibri" panose="020F0502020204030204" pitchFamily="34" charset="0"/>
                <a:cs typeface="Calibri" panose="020F0502020204030204" pitchFamily="34" charset="0"/>
              </a:rPr>
              <a:t> to efficiently handle and store chat data using two distinct models – ‘chatRoom’ and ‘chatMessage’.</a:t>
            </a:r>
          </a:p>
          <a:p>
            <a:pPr marL="342900" indent="-342900" algn="just">
              <a:spcBef>
                <a:spcPts val="1200"/>
              </a:spcBef>
              <a:buClr>
                <a:schemeClr val="tx1"/>
              </a:buClr>
              <a:buFont typeface="+mj-lt"/>
              <a:buAutoNum type="arabicPeriod"/>
            </a:pPr>
            <a:r>
              <a:rPr lang="en-GB" b="1" dirty="0" smtClean="0">
                <a:latin typeface="Calibri" panose="020F0502020204030204" pitchFamily="34" charset="0"/>
                <a:cs typeface="Calibri" panose="020F0502020204030204" pitchFamily="34" charset="0"/>
              </a:rPr>
              <a:t>Real-time Communication</a:t>
            </a:r>
            <a:r>
              <a:rPr lang="en-GB" dirty="0" smtClean="0">
                <a:latin typeface="Calibri" panose="020F0502020204030204" pitchFamily="34" charset="0"/>
                <a:cs typeface="Calibri" panose="020F0502020204030204" pitchFamily="34" charset="0"/>
              </a:rPr>
              <a:t>: </a:t>
            </a:r>
            <a:r>
              <a:rPr lang="en-GB" dirty="0">
                <a:latin typeface="Calibri" panose="020F0502020204030204" pitchFamily="34" charset="0"/>
                <a:cs typeface="Calibri" panose="020F0502020204030204" pitchFamily="34" charset="0"/>
              </a:rPr>
              <a:t>Harnessing </a:t>
            </a:r>
            <a:r>
              <a:rPr lang="en-GB" u="sng" dirty="0">
                <a:latin typeface="Calibri" panose="020F0502020204030204" pitchFamily="34" charset="0"/>
                <a:cs typeface="Calibri" panose="020F0502020204030204" pitchFamily="34" charset="0"/>
              </a:rPr>
              <a:t>Socket.io</a:t>
            </a:r>
            <a:r>
              <a:rPr lang="en-GB" dirty="0">
                <a:latin typeface="Calibri" panose="020F0502020204030204" pitchFamily="34" charset="0"/>
                <a:cs typeface="Calibri" panose="020F0502020204030204" pitchFamily="34" charset="0"/>
              </a:rPr>
              <a:t> to enable instant messaging and real-time updates within the chat application</a:t>
            </a:r>
            <a:r>
              <a:rPr lang="en-GB" dirty="0" smtClean="0">
                <a:latin typeface="Calibri" panose="020F0502020204030204" pitchFamily="34" charset="0"/>
                <a:cs typeface="Calibri" panose="020F0502020204030204" pitchFamily="34" charset="0"/>
              </a:rPr>
              <a:t>.</a:t>
            </a:r>
          </a:p>
          <a:p>
            <a:pPr marL="342900" indent="-342900" algn="just">
              <a:spcBef>
                <a:spcPts val="1200"/>
              </a:spcBef>
              <a:buClr>
                <a:schemeClr val="tx1"/>
              </a:buClr>
              <a:buFont typeface="+mj-lt"/>
              <a:buAutoNum type="arabicPeriod"/>
            </a:pPr>
            <a:r>
              <a:rPr lang="en-GB" b="1" dirty="0">
                <a:latin typeface="Calibri" panose="020F0502020204030204" pitchFamily="34" charset="0"/>
                <a:cs typeface="Calibri" panose="020F0502020204030204" pitchFamily="34" charset="0"/>
              </a:rPr>
              <a:t>Network Analysis</a:t>
            </a:r>
            <a:r>
              <a:rPr lang="en-GB" dirty="0">
                <a:latin typeface="Calibri" panose="020F0502020204030204" pitchFamily="34" charset="0"/>
                <a:cs typeface="Calibri" panose="020F0502020204030204" pitchFamily="34" charset="0"/>
              </a:rPr>
              <a:t>: Integrating </a:t>
            </a:r>
            <a:r>
              <a:rPr lang="en-GB" u="sng" dirty="0">
                <a:latin typeface="Calibri" panose="020F0502020204030204" pitchFamily="34" charset="0"/>
                <a:cs typeface="Calibri" panose="020F0502020204030204" pitchFamily="34" charset="0"/>
              </a:rPr>
              <a:t>Wireshark</a:t>
            </a:r>
            <a:r>
              <a:rPr lang="en-GB" dirty="0">
                <a:latin typeface="Calibri" panose="020F0502020204030204" pitchFamily="34" charset="0"/>
                <a:cs typeface="Calibri" panose="020F0502020204030204" pitchFamily="34" charset="0"/>
              </a:rPr>
              <a:t> for in-depth network analysis, ensuring robust security and performance by monitoring and </a:t>
            </a:r>
            <a:r>
              <a:rPr lang="en-GB" dirty="0" smtClean="0">
                <a:latin typeface="Calibri" panose="020F0502020204030204" pitchFamily="34" charset="0"/>
                <a:cs typeface="Calibri" panose="020F0502020204030204" pitchFamily="34" charset="0"/>
              </a:rPr>
              <a:t>analysing </a:t>
            </a:r>
            <a:r>
              <a:rPr lang="en-GB" dirty="0">
                <a:latin typeface="Calibri" panose="020F0502020204030204" pitchFamily="34" charset="0"/>
                <a:cs typeface="Calibri" panose="020F0502020204030204" pitchFamily="34" charset="0"/>
              </a:rPr>
              <a:t>network traffic.</a:t>
            </a:r>
          </a:p>
        </p:txBody>
      </p:sp>
    </p:spTree>
    <p:extLst>
      <p:ext uri="{BB962C8B-B14F-4D97-AF65-F5344CB8AC3E}">
        <p14:creationId xmlns:p14="http://schemas.microsoft.com/office/powerpoint/2010/main" val="223520635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086916" y="1152828"/>
            <a:ext cx="8495919" cy="5570701"/>
          </a:xfrm>
          <a:prstGeom prst="rect">
            <a:avLst/>
          </a:prstGeom>
        </p:spPr>
      </p:pic>
      <p:sp>
        <p:nvSpPr>
          <p:cNvPr id="3" name="Title 2"/>
          <p:cNvSpPr>
            <a:spLocks noGrp="1"/>
          </p:cNvSpPr>
          <p:nvPr>
            <p:ph type="title"/>
          </p:nvPr>
        </p:nvSpPr>
        <p:spPr>
          <a:xfrm>
            <a:off x="376518" y="238551"/>
            <a:ext cx="11551023" cy="769978"/>
          </a:xfrm>
          <a:ln/>
        </p:spPr>
        <p:style>
          <a:lnRef idx="2">
            <a:schemeClr val="accent2"/>
          </a:lnRef>
          <a:fillRef idx="1">
            <a:schemeClr val="lt1"/>
          </a:fillRef>
          <a:effectRef idx="0">
            <a:schemeClr val="accent2"/>
          </a:effectRef>
          <a:fontRef idx="minor">
            <a:schemeClr val="dk1"/>
          </a:fontRef>
        </p:style>
        <p:txBody>
          <a:bodyPr/>
          <a:lstStyle/>
          <a:p>
            <a:r>
              <a:rPr lang="en-GB" dirty="0" smtClean="0"/>
              <a:t>ER diagram for real-time chat application</a:t>
            </a:r>
            <a:endParaRPr lang="en-IN" dirty="0"/>
          </a:p>
        </p:txBody>
      </p:sp>
    </p:spTree>
    <p:extLst>
      <p:ext uri="{BB962C8B-B14F-4D97-AF65-F5344CB8AC3E}">
        <p14:creationId xmlns:p14="http://schemas.microsoft.com/office/powerpoint/2010/main" val="161904773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337C99-03E1-0C51-229F-6A273F13DF5F}"/>
              </a:ext>
            </a:extLst>
          </p:cNvPr>
          <p:cNvSpPr>
            <a:spLocks noGrp="1"/>
          </p:cNvSpPr>
          <p:nvPr>
            <p:ph type="title"/>
          </p:nvPr>
        </p:nvSpPr>
        <p:spPr>
          <a:xfrm>
            <a:off x="2231136" y="964691"/>
            <a:ext cx="7729728" cy="4789127"/>
          </a:xfrm>
        </p:spPr>
        <p:txBody>
          <a:bodyPr>
            <a:normAutofit/>
          </a:bodyPr>
          <a:lstStyle/>
          <a:p>
            <a:r>
              <a:rPr lang="en-US" u="sng" dirty="0"/>
              <a:t>SECTION – </a:t>
            </a:r>
            <a:r>
              <a:rPr lang="en-US" u="sng" dirty="0" smtClean="0"/>
              <a:t>iV</a:t>
            </a:r>
            <a:r>
              <a:rPr lang="en-US" u="sng" dirty="0"/>
              <a:t/>
            </a:r>
            <a:br>
              <a:rPr lang="en-US" u="sng" dirty="0"/>
            </a:br>
            <a:r>
              <a:rPr lang="en-US" u="sng" dirty="0"/>
              <a:t/>
            </a:r>
            <a:br>
              <a:rPr lang="en-US" u="sng" dirty="0"/>
            </a:br>
            <a:r>
              <a:rPr lang="en-US" u="sng" dirty="0" smtClean="0"/>
              <a:t>FEATURES</a:t>
            </a:r>
            <a:endParaRPr lang="en-IN" u="sng" dirty="0"/>
          </a:p>
        </p:txBody>
      </p:sp>
    </p:spTree>
    <p:extLst>
      <p:ext uri="{BB962C8B-B14F-4D97-AF65-F5344CB8AC3E}">
        <p14:creationId xmlns:p14="http://schemas.microsoft.com/office/powerpoint/2010/main" val="114959930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1B5166-9178-AF41-1746-355864E3C8F0}"/>
              </a:ext>
            </a:extLst>
          </p:cNvPr>
          <p:cNvSpPr>
            <a:spLocks noGrp="1"/>
          </p:cNvSpPr>
          <p:nvPr>
            <p:ph type="title"/>
          </p:nvPr>
        </p:nvSpPr>
        <p:spPr>
          <a:xfrm>
            <a:off x="0" y="1"/>
            <a:ext cx="4948517" cy="6858000"/>
          </a:xfrm>
        </p:spPr>
        <p:txBody>
          <a:bodyPr>
            <a:normAutofit/>
          </a:bodyPr>
          <a:lstStyle/>
          <a:p>
            <a:pPr>
              <a:lnSpc>
                <a:spcPct val="100000"/>
              </a:lnSpc>
            </a:pPr>
            <a:r>
              <a:rPr lang="en-GB" dirty="0"/>
              <a:t>List </a:t>
            </a:r>
            <a:r>
              <a:rPr lang="en-GB" dirty="0" smtClean="0"/>
              <a:t>of features</a:t>
            </a:r>
            <a:br>
              <a:rPr lang="en-GB" dirty="0" smtClean="0"/>
            </a:br>
            <a:r>
              <a:rPr lang="en-GB" dirty="0"/>
              <a:t>for </a:t>
            </a:r>
            <a:br>
              <a:rPr lang="en-GB" dirty="0"/>
            </a:br>
            <a:r>
              <a:rPr lang="en-GB" dirty="0"/>
              <a:t>Real-time Chat Application</a:t>
            </a:r>
            <a:endParaRPr lang="en-IN" dirty="0"/>
          </a:p>
        </p:txBody>
      </p:sp>
      <p:sp>
        <p:nvSpPr>
          <p:cNvPr id="3" name="Content Placeholder 2">
            <a:extLst>
              <a:ext uri="{FF2B5EF4-FFF2-40B4-BE49-F238E27FC236}">
                <a16:creationId xmlns:a16="http://schemas.microsoft.com/office/drawing/2014/main" id="{0A65FEDE-5363-9881-FC65-42AD1CFA6EC6}"/>
              </a:ext>
            </a:extLst>
          </p:cNvPr>
          <p:cNvSpPr>
            <a:spLocks noGrp="1"/>
          </p:cNvSpPr>
          <p:nvPr>
            <p:ph idx="1"/>
          </p:nvPr>
        </p:nvSpPr>
        <p:spPr>
          <a:xfrm>
            <a:off x="5082988" y="558054"/>
            <a:ext cx="6938683" cy="5741894"/>
          </a:xfrm>
        </p:spPr>
        <p:txBody>
          <a:bodyPr>
            <a:normAutofit fontScale="85000" lnSpcReduction="10000"/>
          </a:bodyPr>
          <a:lstStyle/>
          <a:p>
            <a:pPr marL="342900" indent="-342900" algn="just">
              <a:spcBef>
                <a:spcPts val="1200"/>
              </a:spcBef>
              <a:buClr>
                <a:schemeClr val="tx1"/>
              </a:buClr>
              <a:buFont typeface="+mj-lt"/>
              <a:buAutoNum type="arabicPeriod"/>
            </a:pPr>
            <a:r>
              <a:rPr lang="en-GB" b="1" dirty="0">
                <a:latin typeface="Calibri" panose="020F0502020204030204" pitchFamily="34" charset="0"/>
                <a:cs typeface="Calibri" panose="020F0502020204030204" pitchFamily="34" charset="0"/>
              </a:rPr>
              <a:t>Real-time Messaging</a:t>
            </a:r>
            <a:r>
              <a:rPr lang="en-GB" dirty="0">
                <a:latin typeface="Calibri" panose="020F0502020204030204" pitchFamily="34" charset="0"/>
                <a:cs typeface="Calibri" panose="020F0502020204030204" pitchFamily="34" charset="0"/>
              </a:rPr>
              <a:t>: Instant messaging functionality for seamless communication.</a:t>
            </a:r>
          </a:p>
          <a:p>
            <a:pPr marL="342900" indent="-342900" algn="just">
              <a:spcBef>
                <a:spcPts val="1200"/>
              </a:spcBef>
              <a:buClr>
                <a:schemeClr val="tx1"/>
              </a:buClr>
              <a:buFont typeface="+mj-lt"/>
              <a:buAutoNum type="arabicPeriod"/>
            </a:pPr>
            <a:r>
              <a:rPr lang="en-GB" b="1" dirty="0">
                <a:latin typeface="Calibri" panose="020F0502020204030204" pitchFamily="34" charset="0"/>
                <a:cs typeface="Calibri" panose="020F0502020204030204" pitchFamily="34" charset="0"/>
              </a:rPr>
              <a:t>User Authentication</a:t>
            </a:r>
            <a:r>
              <a:rPr lang="en-GB" dirty="0">
                <a:latin typeface="Calibri" panose="020F0502020204030204" pitchFamily="34" charset="0"/>
                <a:cs typeface="Calibri" panose="020F0502020204030204" pitchFamily="34" charset="0"/>
              </a:rPr>
              <a:t>: Secure login and authentication mechanisms for user privacy.</a:t>
            </a:r>
          </a:p>
          <a:p>
            <a:pPr marL="342900" indent="-342900" algn="just">
              <a:spcBef>
                <a:spcPts val="1200"/>
              </a:spcBef>
              <a:buClr>
                <a:schemeClr val="tx1"/>
              </a:buClr>
              <a:buFont typeface="+mj-lt"/>
              <a:buAutoNum type="arabicPeriod"/>
            </a:pPr>
            <a:r>
              <a:rPr lang="en-GB" b="1" dirty="0">
                <a:latin typeface="Calibri" panose="020F0502020204030204" pitchFamily="34" charset="0"/>
                <a:cs typeface="Calibri" panose="020F0502020204030204" pitchFamily="34" charset="0"/>
              </a:rPr>
              <a:t>Group Chat Functionality</a:t>
            </a:r>
            <a:r>
              <a:rPr lang="en-GB" dirty="0">
                <a:latin typeface="Calibri" panose="020F0502020204030204" pitchFamily="34" charset="0"/>
                <a:cs typeface="Calibri" panose="020F0502020204030204" pitchFamily="34" charset="0"/>
              </a:rPr>
              <a:t>: Capability to create, join, and manage group conversations.</a:t>
            </a:r>
          </a:p>
          <a:p>
            <a:pPr marL="342900" indent="-342900" algn="just">
              <a:spcBef>
                <a:spcPts val="1200"/>
              </a:spcBef>
              <a:buClr>
                <a:schemeClr val="tx1"/>
              </a:buClr>
              <a:buFont typeface="+mj-lt"/>
              <a:buAutoNum type="arabicPeriod"/>
            </a:pPr>
            <a:r>
              <a:rPr lang="en-GB" b="1" dirty="0">
                <a:latin typeface="Calibri" panose="020F0502020204030204" pitchFamily="34" charset="0"/>
                <a:cs typeface="Calibri" panose="020F0502020204030204" pitchFamily="34" charset="0"/>
              </a:rPr>
              <a:t>File Sharing</a:t>
            </a:r>
            <a:r>
              <a:rPr lang="en-GB" dirty="0">
                <a:latin typeface="Calibri" panose="020F0502020204030204" pitchFamily="34" charset="0"/>
                <a:cs typeface="Calibri" panose="020F0502020204030204" pitchFamily="34" charset="0"/>
              </a:rPr>
              <a:t>: Ability to share various file types among users or groups.</a:t>
            </a:r>
          </a:p>
          <a:p>
            <a:pPr marL="342900" indent="-342900" algn="just">
              <a:spcBef>
                <a:spcPts val="1200"/>
              </a:spcBef>
              <a:buClr>
                <a:schemeClr val="tx1"/>
              </a:buClr>
              <a:buFont typeface="+mj-lt"/>
              <a:buAutoNum type="arabicPeriod"/>
            </a:pPr>
            <a:r>
              <a:rPr lang="en-GB" b="1" dirty="0">
                <a:latin typeface="Calibri" panose="020F0502020204030204" pitchFamily="34" charset="0"/>
                <a:cs typeface="Calibri" panose="020F0502020204030204" pitchFamily="34" charset="0"/>
              </a:rPr>
              <a:t>Responsive UI/UX</a:t>
            </a:r>
            <a:r>
              <a:rPr lang="en-GB" dirty="0">
                <a:latin typeface="Calibri" panose="020F0502020204030204" pitchFamily="34" charset="0"/>
                <a:cs typeface="Calibri" panose="020F0502020204030204" pitchFamily="34" charset="0"/>
              </a:rPr>
              <a:t>: Intuitive and user-friendly interface design for easy navigation.</a:t>
            </a:r>
          </a:p>
          <a:p>
            <a:pPr marL="342900" indent="-342900" algn="just">
              <a:spcBef>
                <a:spcPts val="1200"/>
              </a:spcBef>
              <a:buClr>
                <a:schemeClr val="tx1"/>
              </a:buClr>
              <a:buFont typeface="+mj-lt"/>
              <a:buAutoNum type="arabicPeriod"/>
            </a:pPr>
            <a:r>
              <a:rPr lang="en-GB" b="1" dirty="0">
                <a:latin typeface="Calibri" panose="020F0502020204030204" pitchFamily="34" charset="0"/>
                <a:cs typeface="Calibri" panose="020F0502020204030204" pitchFamily="34" charset="0"/>
              </a:rPr>
              <a:t>Customizable Themes</a:t>
            </a:r>
            <a:r>
              <a:rPr lang="en-GB" dirty="0">
                <a:latin typeface="Calibri" panose="020F0502020204030204" pitchFamily="34" charset="0"/>
                <a:cs typeface="Calibri" panose="020F0502020204030204" pitchFamily="34" charset="0"/>
              </a:rPr>
              <a:t>: Tailwind integration for customizable and visually appealing themes.</a:t>
            </a:r>
          </a:p>
          <a:p>
            <a:pPr marL="342900" indent="-342900" algn="just">
              <a:spcBef>
                <a:spcPts val="1200"/>
              </a:spcBef>
              <a:buClr>
                <a:schemeClr val="tx1"/>
              </a:buClr>
              <a:buFont typeface="+mj-lt"/>
              <a:buAutoNum type="arabicPeriod"/>
            </a:pPr>
            <a:r>
              <a:rPr lang="en-GB" b="1" dirty="0">
                <a:latin typeface="Calibri" panose="020F0502020204030204" pitchFamily="34" charset="0"/>
                <a:cs typeface="Calibri" panose="020F0502020204030204" pitchFamily="34" charset="0"/>
              </a:rPr>
              <a:t>Presence Indicators</a:t>
            </a:r>
            <a:r>
              <a:rPr lang="en-GB" dirty="0">
                <a:latin typeface="Calibri" panose="020F0502020204030204" pitchFamily="34" charset="0"/>
                <a:cs typeface="Calibri" panose="020F0502020204030204" pitchFamily="34" charset="0"/>
              </a:rPr>
              <a:t>: Display online/offline status and indicators for active users.</a:t>
            </a:r>
          </a:p>
          <a:p>
            <a:pPr marL="342900" indent="-342900" algn="just">
              <a:spcBef>
                <a:spcPts val="1200"/>
              </a:spcBef>
              <a:buClr>
                <a:schemeClr val="tx1"/>
              </a:buClr>
              <a:buFont typeface="+mj-lt"/>
              <a:buAutoNum type="arabicPeriod"/>
            </a:pPr>
            <a:r>
              <a:rPr lang="en-GB" b="1" dirty="0">
                <a:latin typeface="Calibri" panose="020F0502020204030204" pitchFamily="34" charset="0"/>
                <a:cs typeface="Calibri" panose="020F0502020204030204" pitchFamily="34" charset="0"/>
              </a:rPr>
              <a:t>Notification System</a:t>
            </a:r>
            <a:r>
              <a:rPr lang="en-GB" dirty="0">
                <a:latin typeface="Calibri" panose="020F0502020204030204" pitchFamily="34" charset="0"/>
                <a:cs typeface="Calibri" panose="020F0502020204030204" pitchFamily="34" charset="0"/>
              </a:rPr>
              <a:t>: Push notifications or alerts for new messages and updates.</a:t>
            </a:r>
          </a:p>
          <a:p>
            <a:pPr marL="342900" indent="-342900" algn="just">
              <a:spcBef>
                <a:spcPts val="1200"/>
              </a:spcBef>
              <a:buClr>
                <a:schemeClr val="tx1"/>
              </a:buClr>
              <a:buFont typeface="+mj-lt"/>
              <a:buAutoNum type="arabicPeriod"/>
            </a:pPr>
            <a:r>
              <a:rPr lang="en-GB" b="1" dirty="0">
                <a:latin typeface="Calibri" panose="020F0502020204030204" pitchFamily="34" charset="0"/>
                <a:cs typeface="Calibri" panose="020F0502020204030204" pitchFamily="34" charset="0"/>
              </a:rPr>
              <a:t>Search Functionality</a:t>
            </a:r>
            <a:r>
              <a:rPr lang="en-GB" dirty="0">
                <a:latin typeface="Calibri" panose="020F0502020204030204" pitchFamily="34" charset="0"/>
                <a:cs typeface="Calibri" panose="020F0502020204030204" pitchFamily="34" charset="0"/>
              </a:rPr>
              <a:t>: Search feature to find specific messages or users within chats.</a:t>
            </a:r>
          </a:p>
          <a:p>
            <a:pPr marL="342900" indent="-342900" algn="just">
              <a:spcBef>
                <a:spcPts val="1200"/>
              </a:spcBef>
              <a:buClr>
                <a:schemeClr val="tx1"/>
              </a:buClr>
              <a:buFont typeface="+mj-lt"/>
              <a:buAutoNum type="arabicPeriod"/>
            </a:pPr>
            <a:r>
              <a:rPr lang="en-GB" b="1" dirty="0">
                <a:latin typeface="Calibri" panose="020F0502020204030204" pitchFamily="34" charset="0"/>
                <a:cs typeface="Calibri" panose="020F0502020204030204" pitchFamily="34" charset="0"/>
              </a:rPr>
              <a:t>Message Editing and Deletion</a:t>
            </a:r>
            <a:r>
              <a:rPr lang="en-GB" dirty="0">
                <a:latin typeface="Calibri" panose="020F0502020204030204" pitchFamily="34" charset="0"/>
                <a:cs typeface="Calibri" panose="020F0502020204030204" pitchFamily="34" charset="0"/>
              </a:rPr>
              <a:t>: Allow users to edit or delete sent messages if needed.</a:t>
            </a:r>
          </a:p>
          <a:p>
            <a:pPr marL="342900" indent="-342900" algn="just">
              <a:spcBef>
                <a:spcPts val="1200"/>
              </a:spcBef>
              <a:buClr>
                <a:schemeClr val="tx1"/>
              </a:buClr>
              <a:buFont typeface="+mj-lt"/>
              <a:buAutoNum type="arabicPeriod"/>
            </a:pPr>
            <a:r>
              <a:rPr lang="en-GB" b="1" dirty="0">
                <a:latin typeface="Calibri" panose="020F0502020204030204" pitchFamily="34" charset="0"/>
                <a:cs typeface="Calibri" panose="020F0502020204030204" pitchFamily="34" charset="0"/>
              </a:rPr>
              <a:t>Emoji and Reactions</a:t>
            </a:r>
            <a:r>
              <a:rPr lang="en-GB" dirty="0">
                <a:latin typeface="Calibri" panose="020F0502020204030204" pitchFamily="34" charset="0"/>
                <a:cs typeface="Calibri" panose="020F0502020204030204" pitchFamily="34" charset="0"/>
              </a:rPr>
              <a:t>: Support for </a:t>
            </a:r>
            <a:r>
              <a:rPr lang="en-GB" dirty="0" smtClean="0">
                <a:latin typeface="Calibri" panose="020F0502020204030204" pitchFamily="34" charset="0"/>
                <a:cs typeface="Calibri" panose="020F0502020204030204" pitchFamily="34" charset="0"/>
              </a:rPr>
              <a:t>emoji's </a:t>
            </a:r>
            <a:r>
              <a:rPr lang="en-GB" dirty="0">
                <a:latin typeface="Calibri" panose="020F0502020204030204" pitchFamily="34" charset="0"/>
                <a:cs typeface="Calibri" panose="020F0502020204030204" pitchFamily="34" charset="0"/>
              </a:rPr>
              <a:t>and reactions to enhance communication.</a:t>
            </a:r>
          </a:p>
          <a:p>
            <a:pPr marL="342900" indent="-342900" algn="just">
              <a:spcBef>
                <a:spcPts val="1200"/>
              </a:spcBef>
              <a:buClr>
                <a:schemeClr val="tx1"/>
              </a:buClr>
              <a:buFont typeface="+mj-lt"/>
              <a:buAutoNum type="arabicPeriod"/>
            </a:pPr>
            <a:r>
              <a:rPr lang="en-GB" b="1" dirty="0">
                <a:latin typeface="Calibri" panose="020F0502020204030204" pitchFamily="34" charset="0"/>
                <a:cs typeface="Calibri" panose="020F0502020204030204" pitchFamily="34" charset="0"/>
              </a:rPr>
              <a:t>Analytics Dashboard</a:t>
            </a:r>
            <a:r>
              <a:rPr lang="en-GB" dirty="0">
                <a:latin typeface="Calibri" panose="020F0502020204030204" pitchFamily="34" charset="0"/>
                <a:cs typeface="Calibri" panose="020F0502020204030204" pitchFamily="34" charset="0"/>
              </a:rPr>
              <a:t>: Backend analytics to monitor chat usage and trends.</a:t>
            </a:r>
          </a:p>
        </p:txBody>
      </p:sp>
    </p:spTree>
    <p:extLst>
      <p:ext uri="{BB962C8B-B14F-4D97-AF65-F5344CB8AC3E}">
        <p14:creationId xmlns:p14="http://schemas.microsoft.com/office/powerpoint/2010/main" val="424105307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337C99-03E1-0C51-229F-6A273F13DF5F}"/>
              </a:ext>
            </a:extLst>
          </p:cNvPr>
          <p:cNvSpPr>
            <a:spLocks noGrp="1"/>
          </p:cNvSpPr>
          <p:nvPr>
            <p:ph type="title"/>
          </p:nvPr>
        </p:nvSpPr>
        <p:spPr>
          <a:xfrm>
            <a:off x="2231136" y="964691"/>
            <a:ext cx="7729728" cy="4789127"/>
          </a:xfrm>
        </p:spPr>
        <p:txBody>
          <a:bodyPr>
            <a:normAutofit/>
          </a:bodyPr>
          <a:lstStyle/>
          <a:p>
            <a:r>
              <a:rPr lang="en-US" u="sng" dirty="0"/>
              <a:t>SECTION – </a:t>
            </a:r>
            <a:r>
              <a:rPr lang="en-US" u="sng" dirty="0" smtClean="0"/>
              <a:t>V</a:t>
            </a:r>
            <a:r>
              <a:rPr lang="en-US" u="sng" dirty="0"/>
              <a:t/>
            </a:r>
            <a:br>
              <a:rPr lang="en-US" u="sng" dirty="0"/>
            </a:br>
            <a:r>
              <a:rPr lang="en-US" u="sng" dirty="0"/>
              <a:t/>
            </a:r>
            <a:br>
              <a:rPr lang="en-US" u="sng" dirty="0"/>
            </a:br>
            <a:r>
              <a:rPr lang="en-US" u="sng" dirty="0" smtClean="0"/>
              <a:t>prototype</a:t>
            </a:r>
            <a:endParaRPr lang="en-IN" dirty="0"/>
          </a:p>
        </p:txBody>
      </p:sp>
    </p:spTree>
    <p:extLst>
      <p:ext uri="{BB962C8B-B14F-4D97-AF65-F5344CB8AC3E}">
        <p14:creationId xmlns:p14="http://schemas.microsoft.com/office/powerpoint/2010/main" val="322515754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410483" y="-86216"/>
            <a:ext cx="13012966" cy="7030431"/>
          </a:xfrm>
          <a:prstGeom prst="rect">
            <a:avLst/>
          </a:prstGeom>
        </p:spPr>
      </p:pic>
    </p:spTree>
    <p:extLst>
      <p:ext uri="{BB962C8B-B14F-4D97-AF65-F5344CB8AC3E}">
        <p14:creationId xmlns:p14="http://schemas.microsoft.com/office/powerpoint/2010/main" val="180494232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410483" y="-86216"/>
            <a:ext cx="13012966" cy="7030431"/>
          </a:xfrm>
          <a:prstGeom prst="rect">
            <a:avLst/>
          </a:prstGeom>
        </p:spPr>
      </p:pic>
    </p:spTree>
    <p:extLst>
      <p:ext uri="{BB962C8B-B14F-4D97-AF65-F5344CB8AC3E}">
        <p14:creationId xmlns:p14="http://schemas.microsoft.com/office/powerpoint/2010/main" val="210158752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410483" y="-86216"/>
            <a:ext cx="13012966" cy="7030431"/>
          </a:xfrm>
          <a:prstGeom prst="rect">
            <a:avLst/>
          </a:prstGeom>
        </p:spPr>
      </p:pic>
    </p:spTree>
    <p:extLst>
      <p:ext uri="{BB962C8B-B14F-4D97-AF65-F5344CB8AC3E}">
        <p14:creationId xmlns:p14="http://schemas.microsoft.com/office/powerpoint/2010/main" val="68811435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410483" y="-86216"/>
            <a:ext cx="13012966" cy="7030431"/>
          </a:xfrm>
          <a:prstGeom prst="rect">
            <a:avLst/>
          </a:prstGeom>
        </p:spPr>
      </p:pic>
    </p:spTree>
    <p:extLst>
      <p:ext uri="{BB962C8B-B14F-4D97-AF65-F5344CB8AC3E}">
        <p14:creationId xmlns:p14="http://schemas.microsoft.com/office/powerpoint/2010/main" val="182457468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410483" y="-86216"/>
            <a:ext cx="13012966" cy="7030431"/>
          </a:xfrm>
          <a:prstGeom prst="rect">
            <a:avLst/>
          </a:prstGeom>
        </p:spPr>
      </p:pic>
    </p:spTree>
    <p:extLst>
      <p:ext uri="{BB962C8B-B14F-4D97-AF65-F5344CB8AC3E}">
        <p14:creationId xmlns:p14="http://schemas.microsoft.com/office/powerpoint/2010/main" val="142599363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410483" y="-86216"/>
            <a:ext cx="13012966" cy="7030431"/>
          </a:xfrm>
          <a:prstGeom prst="rect">
            <a:avLst/>
          </a:prstGeom>
        </p:spPr>
      </p:pic>
    </p:spTree>
    <p:extLst>
      <p:ext uri="{BB962C8B-B14F-4D97-AF65-F5344CB8AC3E}">
        <p14:creationId xmlns:p14="http://schemas.microsoft.com/office/powerpoint/2010/main" val="138461330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337C99-03E1-0C51-229F-6A273F13DF5F}"/>
              </a:ext>
            </a:extLst>
          </p:cNvPr>
          <p:cNvSpPr>
            <a:spLocks noGrp="1"/>
          </p:cNvSpPr>
          <p:nvPr>
            <p:ph type="title"/>
          </p:nvPr>
        </p:nvSpPr>
        <p:spPr>
          <a:xfrm>
            <a:off x="804672" y="1984192"/>
            <a:ext cx="4486656" cy="2889615"/>
          </a:xfrm>
        </p:spPr>
        <p:txBody>
          <a:bodyPr>
            <a:normAutofit/>
          </a:bodyPr>
          <a:lstStyle/>
          <a:p>
            <a:r>
              <a:rPr lang="en-US" dirty="0" smtClean="0"/>
              <a:t>Summary of project</a:t>
            </a:r>
            <a:endParaRPr lang="en-IN" dirty="0"/>
          </a:p>
        </p:txBody>
      </p:sp>
      <p:sp>
        <p:nvSpPr>
          <p:cNvPr id="4" name="Content Placeholder 3"/>
          <p:cNvSpPr>
            <a:spLocks noGrp="1"/>
          </p:cNvSpPr>
          <p:nvPr>
            <p:ph idx="1"/>
          </p:nvPr>
        </p:nvSpPr>
        <p:spPr>
          <a:xfrm>
            <a:off x="6843656" y="2197517"/>
            <a:ext cx="4815840" cy="2462963"/>
          </a:xfrm>
        </p:spPr>
        <p:txBody>
          <a:bodyPr>
            <a:normAutofit/>
          </a:bodyPr>
          <a:lstStyle/>
          <a:p>
            <a:pPr marL="0" indent="0">
              <a:buNone/>
            </a:pPr>
            <a:r>
              <a:rPr lang="en-GB" sz="2400" b="1" dirty="0" smtClean="0">
                <a:latin typeface="Calibri" panose="020F0502020204030204" pitchFamily="34" charset="0"/>
                <a:cs typeface="Calibri" panose="020F0502020204030204" pitchFamily="34" charset="0"/>
              </a:rPr>
              <a:t>Real - time Chat Application</a:t>
            </a:r>
          </a:p>
          <a:p>
            <a:pPr marL="0" indent="0">
              <a:spcBef>
                <a:spcPts val="0"/>
              </a:spcBef>
              <a:buNone/>
            </a:pPr>
            <a:endParaRPr lang="en-GB" sz="1200" b="1" dirty="0" smtClean="0">
              <a:latin typeface="Calibri" panose="020F0502020204030204" pitchFamily="34" charset="0"/>
              <a:cs typeface="Calibri" panose="020F0502020204030204" pitchFamily="34" charset="0"/>
            </a:endParaRPr>
          </a:p>
          <a:p>
            <a:r>
              <a:rPr lang="en-GB" sz="2000" b="1" dirty="0" smtClean="0">
                <a:latin typeface="Calibri" panose="020F0502020204030204" pitchFamily="34" charset="0"/>
                <a:cs typeface="Calibri" panose="020F0502020204030204" pitchFamily="34" charset="0"/>
              </a:rPr>
              <a:t>Key </a:t>
            </a:r>
            <a:r>
              <a:rPr lang="en-GB" sz="2000" b="1" dirty="0">
                <a:latin typeface="Calibri" panose="020F0502020204030204" pitchFamily="34" charset="0"/>
                <a:cs typeface="Calibri" panose="020F0502020204030204" pitchFamily="34" charset="0"/>
              </a:rPr>
              <a:t>Objectives:</a:t>
            </a:r>
            <a:r>
              <a:rPr lang="en-GB" sz="2000" dirty="0">
                <a:latin typeface="Calibri" panose="020F0502020204030204" pitchFamily="34" charset="0"/>
                <a:cs typeface="Calibri" panose="020F0502020204030204" pitchFamily="34" charset="0"/>
              </a:rPr>
              <a:t> Seamless communication, collaboration, and resource sharing.</a:t>
            </a:r>
          </a:p>
          <a:p>
            <a:r>
              <a:rPr lang="en-GB" sz="2000" b="1" dirty="0">
                <a:latin typeface="Calibri" panose="020F0502020204030204" pitchFamily="34" charset="0"/>
                <a:cs typeface="Calibri" panose="020F0502020204030204" pitchFamily="34" charset="0"/>
              </a:rPr>
              <a:t>Tech Stack:</a:t>
            </a:r>
            <a:r>
              <a:rPr lang="en-GB" sz="2000" dirty="0">
                <a:latin typeface="Calibri" panose="020F0502020204030204" pitchFamily="34" charset="0"/>
                <a:cs typeface="Calibri" panose="020F0502020204030204" pitchFamily="34" charset="0"/>
              </a:rPr>
              <a:t> React, Tailwind, Firebase, Node/Express, MongoDB, </a:t>
            </a:r>
            <a:r>
              <a:rPr lang="en-GB" sz="2000" dirty="0" smtClean="0">
                <a:latin typeface="Calibri" panose="020F0502020204030204" pitchFamily="34" charset="0"/>
                <a:cs typeface="Calibri" panose="020F0502020204030204" pitchFamily="34" charset="0"/>
              </a:rPr>
              <a:t>Socket.io, Wireshark.</a:t>
            </a:r>
            <a:endParaRPr lang="en-GB" sz="20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201345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337C99-03E1-0C51-229F-6A273F13DF5F}"/>
              </a:ext>
            </a:extLst>
          </p:cNvPr>
          <p:cNvSpPr>
            <a:spLocks noGrp="1"/>
          </p:cNvSpPr>
          <p:nvPr>
            <p:ph type="title"/>
          </p:nvPr>
        </p:nvSpPr>
        <p:spPr>
          <a:xfrm>
            <a:off x="2231136" y="964691"/>
            <a:ext cx="7729728" cy="4789127"/>
          </a:xfrm>
        </p:spPr>
        <p:txBody>
          <a:bodyPr>
            <a:normAutofit/>
          </a:bodyPr>
          <a:lstStyle/>
          <a:p>
            <a:r>
              <a:rPr lang="en-US" dirty="0" smtClean="0"/>
              <a:t>Thank you!</a:t>
            </a:r>
            <a:br>
              <a:rPr lang="en-US" dirty="0" smtClean="0"/>
            </a:br>
            <a:r>
              <a:rPr lang="en-US" dirty="0" smtClean="0"/>
              <a:t/>
            </a:r>
            <a:br>
              <a:rPr lang="en-US" dirty="0" smtClean="0"/>
            </a:br>
            <a:r>
              <a:rPr lang="en-GB" sz="1800" i="1" u="sng" dirty="0">
                <a:latin typeface="Calibri" panose="020F0502020204030204" pitchFamily="34" charset="0"/>
                <a:cs typeface="Calibri" panose="020F0502020204030204" pitchFamily="34" charset="0"/>
              </a:rPr>
              <a:t>Grateful for your time and active </a:t>
            </a:r>
            <a:r>
              <a:rPr lang="en-GB" sz="1800" i="1" u="sng" dirty="0" smtClean="0">
                <a:latin typeface="Calibri" panose="020F0502020204030204" pitchFamily="34" charset="0"/>
                <a:cs typeface="Calibri" panose="020F0502020204030204" pitchFamily="34" charset="0"/>
              </a:rPr>
              <a:t>participation</a:t>
            </a:r>
            <a:endParaRPr lang="en-IN" sz="1800" i="1" u="sng"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858137373"/>
      </p:ext>
    </p:extLst>
  </p:cSld>
  <p:clrMapOvr>
    <a:masterClrMapping/>
  </p:clrMapOvr>
  <p:timing>
    <p:tnLst>
      <p:par>
        <p:cTn id="1" dur="indefinite" restart="never" nodeType="tmRoot"/>
      </p:par>
    </p:tnLst>
  </p:timing>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docProps/app.xml><?xml version="1.0" encoding="utf-8"?>
<Properties xmlns="http://schemas.openxmlformats.org/officeDocument/2006/extended-properties" xmlns:vt="http://schemas.openxmlformats.org/officeDocument/2006/docPropsVTypes">
  <Template>TM10001115[[fn=Parcel]]</Template>
  <TotalTime>265</TotalTime>
  <Words>844</Words>
  <Application>Microsoft Office PowerPoint</Application>
  <PresentationFormat>Widescreen</PresentationFormat>
  <Paragraphs>70</Paragraphs>
  <Slides>23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Arial</vt:lpstr>
      <vt:lpstr>Calibri</vt:lpstr>
      <vt:lpstr>Gill Sans MT</vt:lpstr>
      <vt:lpstr>Söhne</vt:lpstr>
      <vt:lpstr>Parcel</vt:lpstr>
      <vt:lpstr>Realtime  Chat Application</vt:lpstr>
      <vt:lpstr>SECTION – 1  Introduction</vt:lpstr>
      <vt:lpstr>Overview of the project</vt:lpstr>
      <vt:lpstr>Importance of project-based learning</vt:lpstr>
      <vt:lpstr>Purpose of the project</vt:lpstr>
      <vt:lpstr>SECTION – ii  Project Goals</vt:lpstr>
      <vt:lpstr>objectives of the Real-time Chat Application</vt:lpstr>
      <vt:lpstr>How it supports project-based learning</vt:lpstr>
      <vt:lpstr>SECTION – iiI  Technical Specifications</vt:lpstr>
      <vt:lpstr>Technical requirements  for  Real-time Chat Application</vt:lpstr>
      <vt:lpstr>Tools, languages, frameworks</vt:lpstr>
      <vt:lpstr>ER diagram for real-time chat application</vt:lpstr>
      <vt:lpstr>SECTION – iV  FEATURES</vt:lpstr>
      <vt:lpstr>List of features for  Real-time Chat Application</vt:lpstr>
      <vt:lpstr>SECTION – V  prototype</vt:lpstr>
      <vt:lpstr>PowerPoint Presentation</vt:lpstr>
      <vt:lpstr>PowerPoint Presentation</vt:lpstr>
      <vt:lpstr>PowerPoint Presentation</vt:lpstr>
      <vt:lpstr>PowerPoint Presentation</vt:lpstr>
      <vt:lpstr>PowerPoint Presentation</vt:lpstr>
      <vt:lpstr>PowerPoint Presentation</vt:lpstr>
      <vt:lpstr>Summary of project</vt:lpstr>
      <vt:lpstr>Thank you!  Grateful for your time and active participation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Realtime  Chat Application</dc:title>
  <dc:creator>Adityan Verma</dc:creator>
  <cp:lastModifiedBy>Sweet Home</cp:lastModifiedBy>
  <cp:revision>14</cp:revision>
  <dcterms:created xsi:type="dcterms:W3CDTF">2023-11-22T17:47:52Z</dcterms:created>
  <dcterms:modified xsi:type="dcterms:W3CDTF">2023-12-11T13:33:12Z</dcterms:modified>
</cp:coreProperties>
</file>